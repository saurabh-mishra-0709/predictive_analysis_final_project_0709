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63" r:id="rId3"/>
    <p:sldId id="258" r:id="rId4"/>
    <p:sldId id="257" r:id="rId5"/>
    <p:sldId id="264" r:id="rId6"/>
    <p:sldId id="265" r:id="rId7"/>
    <p:sldId id="281" r:id="rId8"/>
    <p:sldId id="266" r:id="rId9"/>
    <p:sldId id="282" r:id="rId10"/>
    <p:sldId id="267" r:id="rId11"/>
    <p:sldId id="268" r:id="rId12"/>
    <p:sldId id="269" r:id="rId13"/>
    <p:sldId id="270" r:id="rId14"/>
    <p:sldId id="271" r:id="rId15"/>
    <p:sldId id="272" r:id="rId16"/>
    <p:sldId id="283" r:id="rId17"/>
    <p:sldId id="273" r:id="rId18"/>
    <p:sldId id="274" r:id="rId19"/>
    <p:sldId id="275" r:id="rId20"/>
    <p:sldId id="276" r:id="rId21"/>
    <p:sldId id="284"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25" autoAdjust="0"/>
    <p:restoredTop sz="94660"/>
  </p:normalViewPr>
  <p:slideViewPr>
    <p:cSldViewPr snapToGrid="0">
      <p:cViewPr varScale="1">
        <p:scale>
          <a:sx n="55" d="100"/>
          <a:sy n="55" d="100"/>
        </p:scale>
        <p:origin x="1096"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688407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29696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1583035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14FD12A-B5B7-47FB-AEF6-812CEF8BE801}"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3557152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14FD12A-B5B7-47FB-AEF6-812CEF8BE801}" type="datetimeFigureOut">
              <a:rPr lang="en-IN" smtClean="0"/>
              <a:t>09-04-2026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5769360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14FD12A-B5B7-47FB-AEF6-812CEF8BE801}" type="datetimeFigureOut">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1866739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14FD12A-B5B7-47FB-AEF6-812CEF8BE801}" type="datetimeFigureOut">
              <a:rPr lang="en-IN" smtClean="0"/>
              <a:t>09-04-2026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709887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4FD12A-B5B7-47FB-AEF6-812CEF8BE801}"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354192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14FD12A-B5B7-47FB-AEF6-812CEF8BE801}" type="datetimeFigureOut">
              <a:rPr lang="en-IN" smtClean="0"/>
              <a:t>09-04-2026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792499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414FD12A-B5B7-47FB-AEF6-812CEF8BE801}" type="datetimeFigureOut">
              <a:rPr lang="en-IN" smtClean="0"/>
              <a:t>09-04-2026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69346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35570950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0878830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371573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367934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24940902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1718367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14FD12A-B5B7-47FB-AEF6-812CEF8BE801}" type="datetimeFigureOut">
              <a:rPr lang="en-IN" smtClean="0"/>
              <a:t>09-04-2026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2E888CE-B11B-4431-AD53-1B22EF6BE6A6}" type="slidenum">
              <a:rPr lang="en-IN" smtClean="0"/>
              <a:t>‹#›</a:t>
            </a:fld>
            <a:endParaRPr lang="en-IN"/>
          </a:p>
        </p:txBody>
      </p:sp>
    </p:spTree>
    <p:extLst>
      <p:ext uri="{BB962C8B-B14F-4D97-AF65-F5344CB8AC3E}">
        <p14:creationId xmlns:p14="http://schemas.microsoft.com/office/powerpoint/2010/main" val="1438784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414FD12A-B5B7-47FB-AEF6-812CEF8BE801}" type="datetimeFigureOut">
              <a:rPr lang="en-IN" smtClean="0"/>
              <a:t>09-04-2026</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02E888CE-B11B-4431-AD53-1B22EF6BE6A6}" type="slidenum">
              <a:rPr lang="en-IN" smtClean="0"/>
              <a:t>‹#›</a:t>
            </a:fld>
            <a:endParaRPr lang="en-IN"/>
          </a:p>
        </p:txBody>
      </p:sp>
    </p:spTree>
    <p:extLst>
      <p:ext uri="{BB962C8B-B14F-4D97-AF65-F5344CB8AC3E}">
        <p14:creationId xmlns:p14="http://schemas.microsoft.com/office/powerpoint/2010/main" val="4274015967"/>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3EAC0-E018-26D9-F83B-5C7CC0815AD3}"/>
              </a:ext>
            </a:extLst>
          </p:cNvPr>
          <p:cNvSpPr>
            <a:spLocks noGrp="1"/>
          </p:cNvSpPr>
          <p:nvPr>
            <p:ph type="ctrTitle"/>
          </p:nvPr>
        </p:nvSpPr>
        <p:spPr>
          <a:xfrm>
            <a:off x="1981200" y="750400"/>
            <a:ext cx="8229600" cy="678411"/>
          </a:xfrm>
        </p:spPr>
        <p:txBody>
          <a:bodyPr>
            <a:normAutofit fontScale="90000"/>
          </a:bodyPr>
          <a:lstStyle/>
          <a:p>
            <a:r>
              <a:rPr lang="en-US" sz="4000" b="1" u="sng" dirty="0">
                <a:latin typeface="Algerian" panose="04020705040A02060702" pitchFamily="82" charset="0"/>
              </a:rPr>
              <a:t>MDTS4214: Predictive Analysis </a:t>
            </a:r>
            <a:endParaRPr lang="en-IN" sz="4000" b="1" u="sng" dirty="0">
              <a:latin typeface="Algerian" panose="04020705040A02060702" pitchFamily="82" charset="0"/>
            </a:endParaRPr>
          </a:p>
        </p:txBody>
      </p:sp>
      <p:sp>
        <p:nvSpPr>
          <p:cNvPr id="3" name="Subtitle 2">
            <a:extLst>
              <a:ext uri="{FF2B5EF4-FFF2-40B4-BE49-F238E27FC236}">
                <a16:creationId xmlns:a16="http://schemas.microsoft.com/office/drawing/2014/main" id="{11DBFA1B-3643-99E7-DAF8-9CAD208B76D0}"/>
              </a:ext>
            </a:extLst>
          </p:cNvPr>
          <p:cNvSpPr>
            <a:spLocks noGrp="1"/>
          </p:cNvSpPr>
          <p:nvPr>
            <p:ph type="subTitle" idx="1"/>
          </p:nvPr>
        </p:nvSpPr>
        <p:spPr>
          <a:xfrm>
            <a:off x="1424354" y="1897736"/>
            <a:ext cx="9144000" cy="1655762"/>
          </a:xfrm>
        </p:spPr>
        <p:txBody>
          <a:bodyPr>
            <a:normAutofit/>
          </a:bodyPr>
          <a:lstStyle/>
          <a:p>
            <a:pPr algn="ctr"/>
            <a:r>
              <a:rPr lang="en-US" dirty="0">
                <a:latin typeface="Algerian" panose="04020705040A02060702" pitchFamily="82" charset="0"/>
              </a:rPr>
              <a:t>Predictive Analytics in the Global AI Job Market</a:t>
            </a:r>
          </a:p>
          <a:p>
            <a:pPr algn="ctr"/>
            <a:endParaRPr lang="en-US" dirty="0">
              <a:latin typeface="Algerian" panose="04020705040A02060702" pitchFamily="82" charset="0"/>
            </a:endParaRPr>
          </a:p>
          <a:p>
            <a:pPr algn="ctr"/>
            <a:r>
              <a:rPr lang="en-US" dirty="0">
                <a:latin typeface="Algerian" panose="04020705040A02060702" pitchFamily="82" charset="0"/>
              </a:rPr>
              <a:t>Modeling Salary Trends, Classifications, and Feature Importance</a:t>
            </a:r>
            <a:endParaRPr lang="en-IN" dirty="0">
              <a:latin typeface="Algerian" panose="04020705040A02060702" pitchFamily="82" charset="0"/>
            </a:endParaRPr>
          </a:p>
        </p:txBody>
      </p:sp>
      <p:sp>
        <p:nvSpPr>
          <p:cNvPr id="4" name="TextBox 3">
            <a:extLst>
              <a:ext uri="{FF2B5EF4-FFF2-40B4-BE49-F238E27FC236}">
                <a16:creationId xmlns:a16="http://schemas.microsoft.com/office/drawing/2014/main" id="{F3BDF3AF-6122-DFAB-3967-64F5B79367EC}"/>
              </a:ext>
            </a:extLst>
          </p:cNvPr>
          <p:cNvSpPr txBox="1"/>
          <p:nvPr/>
        </p:nvSpPr>
        <p:spPr>
          <a:xfrm>
            <a:off x="920262" y="4344104"/>
            <a:ext cx="9648092" cy="923330"/>
          </a:xfrm>
          <a:prstGeom prst="rect">
            <a:avLst/>
          </a:prstGeom>
          <a:noFill/>
        </p:spPr>
        <p:txBody>
          <a:bodyPr wrap="square" rtlCol="0">
            <a:spAutoFit/>
          </a:bodyPr>
          <a:lstStyle/>
          <a:p>
            <a:r>
              <a:rPr lang="en-US" dirty="0"/>
              <a:t>Saurabh Mishra </a:t>
            </a:r>
          </a:p>
          <a:p>
            <a:r>
              <a:rPr lang="en-US" dirty="0"/>
              <a:t>MSc Data Science, Sem 2</a:t>
            </a:r>
          </a:p>
          <a:p>
            <a:r>
              <a:rPr lang="en-US" dirty="0"/>
              <a:t>St. Xavier's College</a:t>
            </a:r>
            <a:endParaRPr lang="en-IN" dirty="0"/>
          </a:p>
        </p:txBody>
      </p:sp>
    </p:spTree>
    <p:extLst>
      <p:ext uri="{BB962C8B-B14F-4D97-AF65-F5344CB8AC3E}">
        <p14:creationId xmlns:p14="http://schemas.microsoft.com/office/powerpoint/2010/main" val="348244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0C50E89-7857-D176-E35F-D0C7D8519498}"/>
              </a:ext>
            </a:extLst>
          </p:cNvPr>
          <p:cNvSpPr txBox="1"/>
          <p:nvPr/>
        </p:nvSpPr>
        <p:spPr>
          <a:xfrm>
            <a:off x="308919" y="580768"/>
            <a:ext cx="11467070" cy="584775"/>
          </a:xfrm>
          <a:prstGeom prst="rect">
            <a:avLst/>
          </a:prstGeom>
          <a:noFill/>
        </p:spPr>
        <p:txBody>
          <a:bodyPr wrap="square" rtlCol="0">
            <a:spAutoFit/>
          </a:bodyPr>
          <a:lstStyle/>
          <a:p>
            <a:pPr algn="ctr"/>
            <a:r>
              <a:rPr lang="en-IN" sz="3200" dirty="0">
                <a:latin typeface="Algerian" panose="04020705040A02060702" pitchFamily="82" charset="0"/>
              </a:rPr>
              <a:t>Project Objective</a:t>
            </a:r>
          </a:p>
        </p:txBody>
      </p:sp>
      <p:sp>
        <p:nvSpPr>
          <p:cNvPr id="5" name="TextBox 4">
            <a:extLst>
              <a:ext uri="{FF2B5EF4-FFF2-40B4-BE49-F238E27FC236}">
                <a16:creationId xmlns:a16="http://schemas.microsoft.com/office/drawing/2014/main" id="{2493F832-0AE0-3825-1186-0AD9051C4D0B}"/>
              </a:ext>
            </a:extLst>
          </p:cNvPr>
          <p:cNvSpPr txBox="1"/>
          <p:nvPr/>
        </p:nvSpPr>
        <p:spPr>
          <a:xfrm>
            <a:off x="724930" y="2195495"/>
            <a:ext cx="11467070" cy="2308324"/>
          </a:xfrm>
          <a:prstGeom prst="rect">
            <a:avLst/>
          </a:prstGeom>
          <a:noFill/>
        </p:spPr>
        <p:txBody>
          <a:bodyPr wrap="square" rtlCol="0">
            <a:spAutoFit/>
          </a:bodyPr>
          <a:lstStyle/>
          <a:p>
            <a:r>
              <a:rPr lang="en-US" dirty="0"/>
              <a:t>The objective of this project is to analyze an AI job dataset and build predictive models for:</a:t>
            </a:r>
          </a:p>
          <a:p>
            <a:endParaRPr lang="en-US" dirty="0"/>
          </a:p>
          <a:p>
            <a:pPr marL="342900" indent="-342900">
              <a:buFont typeface="+mj-lt"/>
              <a:buAutoNum type="arabicPeriod"/>
            </a:pPr>
            <a:r>
              <a:rPr lang="en-US" dirty="0"/>
              <a:t>Predicting salary using regression techniques</a:t>
            </a:r>
          </a:p>
          <a:p>
            <a:pPr marL="342900" indent="-342900">
              <a:buFont typeface="+mj-lt"/>
              <a:buAutoNum type="arabicPeriod"/>
            </a:pPr>
            <a:r>
              <a:rPr lang="en-US" dirty="0"/>
              <a:t>Predicting whether a job is fully remote using classification techniques</a:t>
            </a:r>
          </a:p>
          <a:p>
            <a:pPr marL="342900" indent="-342900">
              <a:buFont typeface="+mj-lt"/>
              <a:buAutoNum type="arabicPeriod"/>
            </a:pPr>
            <a:r>
              <a:rPr lang="en-US" dirty="0"/>
              <a:t>Identifying influential factors affecting salary and remote work</a:t>
            </a:r>
          </a:p>
          <a:p>
            <a:pPr marL="342900" indent="-342900">
              <a:buFont typeface="+mj-lt"/>
              <a:buAutoNum type="arabicPeriod"/>
            </a:pPr>
            <a:r>
              <a:rPr lang="en-US" dirty="0"/>
              <a:t>Detecting multicollinearity, influential observations, and interaction effects</a:t>
            </a:r>
          </a:p>
          <a:p>
            <a:pPr marL="342900" indent="-342900">
              <a:buFont typeface="+mj-lt"/>
              <a:buAutoNum type="arabicPeriod"/>
            </a:pPr>
            <a:r>
              <a:rPr lang="en-US" dirty="0"/>
              <a:t>Comparing multiple machine learning and statistical models</a:t>
            </a:r>
          </a:p>
          <a:p>
            <a:endParaRPr lang="en-IN" dirty="0"/>
          </a:p>
        </p:txBody>
      </p:sp>
    </p:spTree>
    <p:extLst>
      <p:ext uri="{BB962C8B-B14F-4D97-AF65-F5344CB8AC3E}">
        <p14:creationId xmlns:p14="http://schemas.microsoft.com/office/powerpoint/2010/main" val="4732528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EE50E-DB8C-FAE2-3D8C-4E08AF12AAC9}"/>
              </a:ext>
            </a:extLst>
          </p:cNvPr>
          <p:cNvSpPr>
            <a:spLocks noGrp="1"/>
          </p:cNvSpPr>
          <p:nvPr>
            <p:ph type="title"/>
          </p:nvPr>
        </p:nvSpPr>
        <p:spPr>
          <a:xfrm>
            <a:off x="703386" y="624110"/>
            <a:ext cx="10801226" cy="817828"/>
          </a:xfrm>
        </p:spPr>
        <p:txBody>
          <a:bodyPr/>
          <a:lstStyle/>
          <a:p>
            <a:pPr algn="ctr"/>
            <a:r>
              <a:rPr lang="en-US" b="1" dirty="0"/>
              <a:t>Overview of </a:t>
            </a:r>
            <a:r>
              <a:rPr lang="en-US" b="1" dirty="0" err="1"/>
              <a:t>dataSET</a:t>
            </a:r>
            <a:endParaRPr lang="en-IN" b="1" dirty="0"/>
          </a:p>
        </p:txBody>
      </p:sp>
      <p:pic>
        <p:nvPicPr>
          <p:cNvPr id="4" name="Picture 3">
            <a:extLst>
              <a:ext uri="{FF2B5EF4-FFF2-40B4-BE49-F238E27FC236}">
                <a16:creationId xmlns:a16="http://schemas.microsoft.com/office/drawing/2014/main" id="{4C21F1B6-520D-D6E1-3AB9-FB217E1FE4FF}"/>
              </a:ext>
            </a:extLst>
          </p:cNvPr>
          <p:cNvPicPr>
            <a:picLocks noChangeAspect="1"/>
          </p:cNvPicPr>
          <p:nvPr/>
        </p:nvPicPr>
        <p:blipFill>
          <a:blip r:embed="rId2"/>
          <a:stretch>
            <a:fillRect/>
          </a:stretch>
        </p:blipFill>
        <p:spPr>
          <a:xfrm>
            <a:off x="370164" y="1559169"/>
            <a:ext cx="11451671" cy="4487152"/>
          </a:xfrm>
          <a:prstGeom prst="rect">
            <a:avLst/>
          </a:prstGeom>
        </p:spPr>
      </p:pic>
    </p:spTree>
    <p:extLst>
      <p:ext uri="{BB962C8B-B14F-4D97-AF65-F5344CB8AC3E}">
        <p14:creationId xmlns:p14="http://schemas.microsoft.com/office/powerpoint/2010/main" val="106535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BEF8-D565-F5EC-96B5-92166E9DC27E}"/>
              </a:ext>
            </a:extLst>
          </p:cNvPr>
          <p:cNvSpPr>
            <a:spLocks noGrp="1"/>
          </p:cNvSpPr>
          <p:nvPr>
            <p:ph type="title"/>
          </p:nvPr>
        </p:nvSpPr>
        <p:spPr>
          <a:xfrm>
            <a:off x="1230923" y="624110"/>
            <a:ext cx="10187353" cy="1099182"/>
          </a:xfrm>
        </p:spPr>
        <p:txBody>
          <a:bodyPr>
            <a:normAutofit fontScale="90000"/>
          </a:bodyPr>
          <a:lstStyle/>
          <a:p>
            <a:pPr algn="ctr" fontAlgn="base"/>
            <a:r>
              <a:rPr lang="en-US" b="1" dirty="0"/>
              <a:t>Global AI Job Market &amp; Salary Trends 2025</a:t>
            </a:r>
            <a:br>
              <a:rPr lang="en-US" b="1" dirty="0"/>
            </a:br>
            <a:r>
              <a:rPr lang="en-US" sz="1800" dirty="0"/>
              <a:t>A Comprehensive Analysis of Global Employment Trends in AI Synthetically</a:t>
            </a:r>
            <a:br>
              <a:rPr lang="en-US" b="1" dirty="0"/>
            </a:br>
            <a:br>
              <a:rPr lang="en-US" b="1" dirty="0"/>
            </a:br>
            <a:endParaRPr lang="en-US" b="1" dirty="0"/>
          </a:p>
        </p:txBody>
      </p:sp>
      <p:sp>
        <p:nvSpPr>
          <p:cNvPr id="8" name="TextBox 7">
            <a:extLst>
              <a:ext uri="{FF2B5EF4-FFF2-40B4-BE49-F238E27FC236}">
                <a16:creationId xmlns:a16="http://schemas.microsoft.com/office/drawing/2014/main" id="{63B9F7B1-E447-7FBF-B40B-988AAF88A0D5}"/>
              </a:ext>
            </a:extLst>
          </p:cNvPr>
          <p:cNvSpPr txBox="1"/>
          <p:nvPr/>
        </p:nvSpPr>
        <p:spPr>
          <a:xfrm>
            <a:off x="1090246" y="1723292"/>
            <a:ext cx="10750061" cy="4616648"/>
          </a:xfrm>
          <a:prstGeom prst="rect">
            <a:avLst/>
          </a:prstGeom>
          <a:noFill/>
        </p:spPr>
        <p:txBody>
          <a:bodyPr wrap="square" rtlCol="0">
            <a:spAutoFit/>
          </a:bodyPr>
          <a:lstStyle/>
          <a:p>
            <a:r>
              <a:rPr lang="en-IN" b="1" dirty="0"/>
              <a:t>Dataset Overview: </a:t>
            </a:r>
          </a:p>
          <a:p>
            <a:r>
              <a:rPr lang="en-US" sz="1600" dirty="0"/>
              <a:t>This comprehensive dataset contains detailed information about AI and machine learning job positions, salaries, and market trends across different countries, experience levels, and company sizes. Perfect for data science enthusiasts, career researchers, and market analysts for practice purposes.</a:t>
            </a:r>
          </a:p>
          <a:p>
            <a:endParaRPr lang="en-US" sz="1600" dirty="0"/>
          </a:p>
          <a:p>
            <a:pPr fontAlgn="base"/>
            <a:r>
              <a:rPr lang="en-US" b="1" dirty="0"/>
              <a:t>What's Inside:</a:t>
            </a:r>
          </a:p>
          <a:p>
            <a:pPr fontAlgn="base"/>
            <a:r>
              <a:rPr lang="en-US" sz="1600" dirty="0"/>
              <a:t>It includes detailed salary information, job requirements, company insights, and geographic trends.</a:t>
            </a:r>
          </a:p>
          <a:p>
            <a:pPr fontAlgn="base"/>
            <a:endParaRPr lang="en-US" sz="1600" dirty="0"/>
          </a:p>
          <a:p>
            <a:pPr fontAlgn="base"/>
            <a:r>
              <a:rPr lang="en-US" b="1" dirty="0"/>
              <a:t>Key Features:</a:t>
            </a:r>
            <a:endParaRPr lang="en-US" dirty="0"/>
          </a:p>
          <a:p>
            <a:pPr marL="285750" indent="-285750" fontAlgn="base">
              <a:buFont typeface="Arial" panose="020B0604020202020204" pitchFamily="34" charset="0"/>
              <a:buChar char="•"/>
            </a:pPr>
            <a:r>
              <a:rPr lang="en-US" sz="1600" dirty="0"/>
              <a:t>15,000+ job listings from 50+ countries</a:t>
            </a:r>
          </a:p>
          <a:p>
            <a:pPr marL="285750" indent="-285750" fontAlgn="base">
              <a:buFont typeface="Arial" panose="020B0604020202020204" pitchFamily="34" charset="0"/>
              <a:buChar char="•"/>
            </a:pPr>
            <a:r>
              <a:rPr lang="en-US" sz="1600" dirty="0"/>
              <a:t>Salary data in multiple currencies (normalized to USD)</a:t>
            </a:r>
          </a:p>
          <a:p>
            <a:pPr marL="285750" indent="-285750" fontAlgn="base">
              <a:buFont typeface="Arial" panose="020B0604020202020204" pitchFamily="34" charset="0"/>
              <a:buChar char="•"/>
            </a:pPr>
            <a:r>
              <a:rPr lang="en-US" sz="1600" dirty="0"/>
              <a:t>Experience level categorization (Entry, Mid, Senior, Executive)</a:t>
            </a:r>
          </a:p>
          <a:p>
            <a:pPr marL="285750" indent="-285750" fontAlgn="base">
              <a:buFont typeface="Arial" panose="020B0604020202020204" pitchFamily="34" charset="0"/>
              <a:buChar char="•"/>
            </a:pPr>
            <a:r>
              <a:rPr lang="en-US" sz="1600" dirty="0"/>
              <a:t>Company size impact analysis</a:t>
            </a:r>
          </a:p>
          <a:p>
            <a:pPr marL="285750" indent="-285750" fontAlgn="base">
              <a:buFont typeface="Arial" panose="020B0604020202020204" pitchFamily="34" charset="0"/>
              <a:buChar char="•"/>
            </a:pPr>
            <a:r>
              <a:rPr lang="en-US" sz="1600" dirty="0"/>
              <a:t>Remote work trends and patterns</a:t>
            </a:r>
          </a:p>
          <a:p>
            <a:pPr marL="285750" indent="-285750" fontAlgn="base">
              <a:buFont typeface="Arial" panose="020B0604020202020204" pitchFamily="34" charset="0"/>
              <a:buChar char="•"/>
            </a:pPr>
            <a:r>
              <a:rPr lang="en-US" sz="1600" dirty="0"/>
              <a:t>Skills demand analysis</a:t>
            </a:r>
          </a:p>
          <a:p>
            <a:pPr marL="285750" indent="-285750" fontAlgn="base">
              <a:buFont typeface="Arial" panose="020B0604020202020204" pitchFamily="34" charset="0"/>
              <a:buChar char="•"/>
            </a:pPr>
            <a:r>
              <a:rPr lang="en-US" sz="1600" dirty="0"/>
              <a:t>Geographic salary variations</a:t>
            </a:r>
          </a:p>
          <a:p>
            <a:pPr marL="285750" indent="-285750" fontAlgn="base">
              <a:buFont typeface="Arial" panose="020B0604020202020204" pitchFamily="34" charset="0"/>
              <a:buChar char="•"/>
            </a:pPr>
            <a:r>
              <a:rPr lang="en-US" sz="1600" dirty="0"/>
              <a:t>Time-series data showing market evolution</a:t>
            </a:r>
          </a:p>
          <a:p>
            <a:endParaRPr lang="en-IN" sz="1600" dirty="0"/>
          </a:p>
        </p:txBody>
      </p:sp>
    </p:spTree>
    <p:extLst>
      <p:ext uri="{BB962C8B-B14F-4D97-AF65-F5344CB8AC3E}">
        <p14:creationId xmlns:p14="http://schemas.microsoft.com/office/powerpoint/2010/main" val="27957803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142F7E0-BEE7-E413-3A14-B33CF3BAC7C1}"/>
              </a:ext>
            </a:extLst>
          </p:cNvPr>
          <p:cNvSpPr txBox="1"/>
          <p:nvPr/>
        </p:nvSpPr>
        <p:spPr>
          <a:xfrm>
            <a:off x="333632" y="469557"/>
            <a:ext cx="11516498" cy="584775"/>
          </a:xfrm>
          <a:prstGeom prst="rect">
            <a:avLst/>
          </a:prstGeom>
          <a:noFill/>
        </p:spPr>
        <p:txBody>
          <a:bodyPr wrap="square" rtlCol="0">
            <a:spAutoFit/>
          </a:bodyPr>
          <a:lstStyle/>
          <a:p>
            <a:pPr algn="ctr"/>
            <a:r>
              <a:rPr lang="en-IN" sz="3200" dirty="0">
                <a:latin typeface="Algerian" panose="04020705040A02060702" pitchFamily="82" charset="0"/>
              </a:rPr>
              <a:t>Dataset Description</a:t>
            </a:r>
          </a:p>
        </p:txBody>
      </p:sp>
      <p:sp>
        <p:nvSpPr>
          <p:cNvPr id="3" name="TextBox 2">
            <a:extLst>
              <a:ext uri="{FF2B5EF4-FFF2-40B4-BE49-F238E27FC236}">
                <a16:creationId xmlns:a16="http://schemas.microsoft.com/office/drawing/2014/main" id="{200D6201-A490-C15C-0433-62C2C741343B}"/>
              </a:ext>
            </a:extLst>
          </p:cNvPr>
          <p:cNvSpPr txBox="1"/>
          <p:nvPr/>
        </p:nvSpPr>
        <p:spPr>
          <a:xfrm>
            <a:off x="444843" y="1680519"/>
            <a:ext cx="11405287" cy="4524315"/>
          </a:xfrm>
          <a:prstGeom prst="rect">
            <a:avLst/>
          </a:prstGeom>
          <a:noFill/>
        </p:spPr>
        <p:txBody>
          <a:bodyPr wrap="square" rtlCol="0">
            <a:spAutoFit/>
          </a:bodyPr>
          <a:lstStyle/>
          <a:p>
            <a:r>
              <a:rPr lang="en-US" dirty="0"/>
              <a:t>The dataset contains information about AI-related jobs.</a:t>
            </a:r>
          </a:p>
          <a:p>
            <a:endParaRPr lang="en-US" dirty="0"/>
          </a:p>
          <a:p>
            <a:r>
              <a:rPr lang="en-US" dirty="0"/>
              <a:t>Main variables used in the analysis:</a:t>
            </a:r>
          </a:p>
          <a:p>
            <a:endParaRPr lang="en-US" dirty="0"/>
          </a:p>
          <a:p>
            <a:pPr marL="342900" indent="-342900">
              <a:buFont typeface="+mj-lt"/>
              <a:buAutoNum type="arabicPeriod"/>
            </a:pPr>
            <a:r>
              <a:rPr lang="en-US" dirty="0" err="1"/>
              <a:t>salary_usd</a:t>
            </a:r>
            <a:r>
              <a:rPr lang="en-US" dirty="0"/>
              <a:t>: Annual salary in USD</a:t>
            </a:r>
          </a:p>
          <a:p>
            <a:pPr marL="342900" indent="-342900">
              <a:buFont typeface="+mj-lt"/>
              <a:buAutoNum type="arabicPeriod"/>
            </a:pPr>
            <a:r>
              <a:rPr lang="en-US" dirty="0" err="1"/>
              <a:t>years_experience</a:t>
            </a:r>
            <a:r>
              <a:rPr lang="en-US" dirty="0"/>
              <a:t>: Number of years of experience</a:t>
            </a:r>
          </a:p>
          <a:p>
            <a:pPr marL="342900" indent="-342900">
              <a:buFont typeface="+mj-lt"/>
              <a:buAutoNum type="arabicPeriod"/>
            </a:pPr>
            <a:r>
              <a:rPr lang="en-US" dirty="0" err="1"/>
              <a:t>benefits_score</a:t>
            </a:r>
            <a:r>
              <a:rPr lang="en-US" dirty="0"/>
              <a:t>: Score representing employee benefits</a:t>
            </a:r>
          </a:p>
          <a:p>
            <a:pPr marL="342900" indent="-342900">
              <a:buFont typeface="+mj-lt"/>
              <a:buAutoNum type="arabicPeriod"/>
            </a:pPr>
            <a:r>
              <a:rPr lang="en-US" dirty="0" err="1"/>
              <a:t>experience_level</a:t>
            </a:r>
            <a:r>
              <a:rPr lang="en-US" dirty="0"/>
              <a:t>: Level of experience</a:t>
            </a:r>
          </a:p>
          <a:p>
            <a:pPr marL="342900" indent="-342900">
              <a:buFont typeface="+mj-lt"/>
              <a:buAutoNum type="arabicPeriod"/>
            </a:pPr>
            <a:r>
              <a:rPr lang="en-US" dirty="0" err="1"/>
              <a:t>education_required</a:t>
            </a:r>
            <a:r>
              <a:rPr lang="en-US" dirty="0"/>
              <a:t>: Minimum education requirement</a:t>
            </a:r>
          </a:p>
          <a:p>
            <a:pPr marL="342900" indent="-342900">
              <a:buFont typeface="+mj-lt"/>
              <a:buAutoNum type="arabicPeriod"/>
            </a:pPr>
            <a:r>
              <a:rPr lang="en-US" dirty="0" err="1"/>
              <a:t>company_size</a:t>
            </a:r>
            <a:r>
              <a:rPr lang="en-US" dirty="0"/>
              <a:t>: Size of the company</a:t>
            </a:r>
          </a:p>
          <a:p>
            <a:pPr marL="342900" indent="-342900">
              <a:buFont typeface="+mj-lt"/>
              <a:buAutoNum type="arabicPeriod"/>
            </a:pPr>
            <a:r>
              <a:rPr lang="en-US" dirty="0" err="1"/>
              <a:t>remote_ratio</a:t>
            </a:r>
            <a:r>
              <a:rPr lang="en-US" dirty="0"/>
              <a:t>: Percentage of remote work</a:t>
            </a:r>
          </a:p>
          <a:p>
            <a:endParaRPr lang="en-US" dirty="0"/>
          </a:p>
          <a:p>
            <a:r>
              <a:rPr lang="en-US" b="1" dirty="0"/>
              <a:t>Justification</a:t>
            </a:r>
          </a:p>
          <a:p>
            <a:r>
              <a:rPr lang="en-US" dirty="0"/>
              <a:t>These variables were selected because they are expected to influence salary and remote work opportunities.</a:t>
            </a:r>
          </a:p>
          <a:p>
            <a:endParaRPr lang="en-IN" dirty="0"/>
          </a:p>
        </p:txBody>
      </p:sp>
    </p:spTree>
    <p:extLst>
      <p:ext uri="{BB962C8B-B14F-4D97-AF65-F5344CB8AC3E}">
        <p14:creationId xmlns:p14="http://schemas.microsoft.com/office/powerpoint/2010/main" val="17868393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F54D90-B3A1-B6FA-69D6-D38B7E143A62}"/>
              </a:ext>
            </a:extLst>
          </p:cNvPr>
          <p:cNvSpPr txBox="1"/>
          <p:nvPr/>
        </p:nvSpPr>
        <p:spPr>
          <a:xfrm>
            <a:off x="321276" y="457200"/>
            <a:ext cx="11615351" cy="584775"/>
          </a:xfrm>
          <a:prstGeom prst="rect">
            <a:avLst/>
          </a:prstGeom>
          <a:noFill/>
        </p:spPr>
        <p:txBody>
          <a:bodyPr wrap="square" rtlCol="0">
            <a:spAutoFit/>
          </a:bodyPr>
          <a:lstStyle/>
          <a:p>
            <a:pPr algn="ctr"/>
            <a:r>
              <a:rPr lang="en-IN" sz="3200" dirty="0">
                <a:latin typeface="Algerian" panose="04020705040A02060702" pitchFamily="82" charset="0"/>
              </a:rPr>
              <a:t>Data Preprocessing</a:t>
            </a:r>
          </a:p>
        </p:txBody>
      </p:sp>
      <p:sp>
        <p:nvSpPr>
          <p:cNvPr id="3" name="TextBox 2">
            <a:extLst>
              <a:ext uri="{FF2B5EF4-FFF2-40B4-BE49-F238E27FC236}">
                <a16:creationId xmlns:a16="http://schemas.microsoft.com/office/drawing/2014/main" id="{5A0A9442-BC87-6D3F-EEC4-A90D5F04C9FF}"/>
              </a:ext>
            </a:extLst>
          </p:cNvPr>
          <p:cNvSpPr txBox="1"/>
          <p:nvPr/>
        </p:nvSpPr>
        <p:spPr>
          <a:xfrm>
            <a:off x="210065" y="1668162"/>
            <a:ext cx="11726562" cy="4524315"/>
          </a:xfrm>
          <a:prstGeom prst="rect">
            <a:avLst/>
          </a:prstGeom>
          <a:noFill/>
        </p:spPr>
        <p:txBody>
          <a:bodyPr wrap="square" rtlCol="0">
            <a:spAutoFit/>
          </a:bodyPr>
          <a:lstStyle/>
          <a:p>
            <a:r>
              <a:rPr lang="en-US" b="1" dirty="0"/>
              <a:t>Content</a:t>
            </a:r>
          </a:p>
          <a:p>
            <a:endParaRPr lang="en-US" b="1" dirty="0"/>
          </a:p>
          <a:p>
            <a:r>
              <a:rPr lang="en-US" dirty="0"/>
              <a:t>Steps performed before modeling:</a:t>
            </a:r>
          </a:p>
          <a:p>
            <a:pPr marL="342900" indent="-342900">
              <a:buFont typeface="+mj-lt"/>
              <a:buAutoNum type="arabicPeriod"/>
            </a:pPr>
            <a:r>
              <a:rPr lang="en-US" dirty="0"/>
              <a:t>Removed missing values using </a:t>
            </a:r>
            <a:r>
              <a:rPr lang="en-US" dirty="0" err="1"/>
              <a:t>dropna</a:t>
            </a:r>
            <a:r>
              <a:rPr lang="en-US" dirty="0"/>
              <a:t>()</a:t>
            </a:r>
          </a:p>
          <a:p>
            <a:pPr marL="342900" indent="-342900">
              <a:buFont typeface="+mj-lt"/>
              <a:buAutoNum type="arabicPeriod"/>
            </a:pPr>
            <a:r>
              <a:rPr lang="en-US" dirty="0"/>
              <a:t>Selected only relevant variables</a:t>
            </a:r>
          </a:p>
          <a:p>
            <a:pPr marL="342900" indent="-342900">
              <a:buFont typeface="+mj-lt"/>
              <a:buAutoNum type="arabicPeriod"/>
            </a:pPr>
            <a:r>
              <a:rPr lang="en-US" dirty="0"/>
              <a:t>Created a binary variable </a:t>
            </a:r>
            <a:r>
              <a:rPr lang="en-US" dirty="0" err="1"/>
              <a:t>is_remote</a:t>
            </a:r>
            <a:r>
              <a:rPr lang="en-US" dirty="0"/>
              <a:t>:</a:t>
            </a:r>
          </a:p>
          <a:p>
            <a:pPr marL="800100" lvl="1" indent="-342900">
              <a:buFont typeface="Arial" panose="020B0604020202020204" pitchFamily="34" charset="0"/>
              <a:buChar char="•"/>
            </a:pPr>
            <a:r>
              <a:rPr lang="en-US" dirty="0"/>
              <a:t>1 = Fully remote job</a:t>
            </a:r>
          </a:p>
          <a:p>
            <a:pPr marL="800100" lvl="1" indent="-342900">
              <a:buFont typeface="Arial" panose="020B0604020202020204" pitchFamily="34" charset="0"/>
              <a:buChar char="•"/>
            </a:pPr>
            <a:r>
              <a:rPr lang="en-US" dirty="0"/>
              <a:t>0 = Not fully remote</a:t>
            </a:r>
          </a:p>
          <a:p>
            <a:pPr marL="342900" indent="-342900">
              <a:buFont typeface="+mj-lt"/>
              <a:buAutoNum type="arabicPeriod"/>
            </a:pPr>
            <a:r>
              <a:rPr lang="en-US" dirty="0"/>
              <a:t>Converted categorical variables into dummy variables</a:t>
            </a:r>
          </a:p>
          <a:p>
            <a:pPr marL="342900" indent="-342900">
              <a:buFont typeface="+mj-lt"/>
              <a:buAutoNum type="arabicPeriod"/>
            </a:pPr>
            <a:r>
              <a:rPr lang="en-US" dirty="0"/>
              <a:t>Split the data into training set (80%) and test set (20%)</a:t>
            </a:r>
          </a:p>
          <a:p>
            <a:pPr marL="342900" indent="-342900">
              <a:buFont typeface="+mj-lt"/>
              <a:buAutoNum type="arabicPeriod"/>
            </a:pPr>
            <a:r>
              <a:rPr lang="en-US" dirty="0"/>
              <a:t>Standardized predictors using </a:t>
            </a:r>
            <a:r>
              <a:rPr lang="en-US" dirty="0" err="1"/>
              <a:t>StandardScaler</a:t>
            </a:r>
            <a:r>
              <a:rPr lang="en-US" dirty="0"/>
              <a:t>()</a:t>
            </a:r>
          </a:p>
          <a:p>
            <a:pPr marL="342900" indent="-342900">
              <a:buFont typeface="+mj-lt"/>
              <a:buAutoNum type="arabicPeriod"/>
            </a:pPr>
            <a:endParaRPr lang="en-US" dirty="0"/>
          </a:p>
          <a:p>
            <a:pPr marL="342900" indent="-342900">
              <a:buFont typeface="+mj-lt"/>
              <a:buAutoNum type="arabicPeriod"/>
            </a:pPr>
            <a:endParaRPr lang="en-US" dirty="0"/>
          </a:p>
          <a:p>
            <a:r>
              <a:rPr lang="en-US" b="1" dirty="0"/>
              <a:t>Justification</a:t>
            </a:r>
          </a:p>
          <a:p>
            <a:r>
              <a:rPr lang="en-US" dirty="0"/>
              <a:t>Preprocessing ensures the data is clean, numerical, and suitable for machine learning algorithms.</a:t>
            </a:r>
          </a:p>
          <a:p>
            <a:endParaRPr lang="en-IN" dirty="0"/>
          </a:p>
        </p:txBody>
      </p:sp>
    </p:spTree>
    <p:extLst>
      <p:ext uri="{BB962C8B-B14F-4D97-AF65-F5344CB8AC3E}">
        <p14:creationId xmlns:p14="http://schemas.microsoft.com/office/powerpoint/2010/main" val="3103990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EF57E34-6814-B33D-4F80-7195B20A50AB}"/>
              </a:ext>
            </a:extLst>
          </p:cNvPr>
          <p:cNvPicPr>
            <a:picLocks noChangeAspect="1"/>
          </p:cNvPicPr>
          <p:nvPr/>
        </p:nvPicPr>
        <p:blipFill>
          <a:blip r:embed="rId2"/>
          <a:stretch>
            <a:fillRect/>
          </a:stretch>
        </p:blipFill>
        <p:spPr>
          <a:xfrm>
            <a:off x="1594022" y="580592"/>
            <a:ext cx="9101329" cy="5758424"/>
          </a:xfrm>
          <a:prstGeom prst="rect">
            <a:avLst/>
          </a:prstGeom>
        </p:spPr>
      </p:pic>
    </p:spTree>
    <p:extLst>
      <p:ext uri="{BB962C8B-B14F-4D97-AF65-F5344CB8AC3E}">
        <p14:creationId xmlns:p14="http://schemas.microsoft.com/office/powerpoint/2010/main" val="7704721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543947-F697-75B5-C835-EC91B19031C3}"/>
              </a:ext>
            </a:extLst>
          </p:cNvPr>
          <p:cNvSpPr txBox="1"/>
          <p:nvPr/>
        </p:nvSpPr>
        <p:spPr>
          <a:xfrm>
            <a:off x="370703" y="481914"/>
            <a:ext cx="11368216" cy="584775"/>
          </a:xfrm>
          <a:prstGeom prst="rect">
            <a:avLst/>
          </a:prstGeom>
          <a:noFill/>
        </p:spPr>
        <p:txBody>
          <a:bodyPr wrap="square" rtlCol="0">
            <a:spAutoFit/>
          </a:bodyPr>
          <a:lstStyle/>
          <a:p>
            <a:pPr algn="ctr"/>
            <a:r>
              <a:rPr lang="en-IN" sz="3200" dirty="0">
                <a:latin typeface="Algerian" panose="04020705040A02060702" pitchFamily="82" charset="0"/>
              </a:rPr>
              <a:t>Exploratory Data Analysis</a:t>
            </a:r>
          </a:p>
        </p:txBody>
      </p:sp>
      <p:sp>
        <p:nvSpPr>
          <p:cNvPr id="3" name="TextBox 2">
            <a:extLst>
              <a:ext uri="{FF2B5EF4-FFF2-40B4-BE49-F238E27FC236}">
                <a16:creationId xmlns:a16="http://schemas.microsoft.com/office/drawing/2014/main" id="{BE9FA103-2989-7B79-C3E1-AB86816DD96C}"/>
              </a:ext>
            </a:extLst>
          </p:cNvPr>
          <p:cNvSpPr txBox="1"/>
          <p:nvPr/>
        </p:nvSpPr>
        <p:spPr>
          <a:xfrm>
            <a:off x="271849" y="1631092"/>
            <a:ext cx="11578281" cy="5232202"/>
          </a:xfrm>
          <a:prstGeom prst="rect">
            <a:avLst/>
          </a:prstGeom>
          <a:noFill/>
        </p:spPr>
        <p:txBody>
          <a:bodyPr wrap="square" rtlCol="0">
            <a:spAutoFit/>
          </a:bodyPr>
          <a:lstStyle/>
          <a:p>
            <a:r>
              <a:rPr lang="en-US" b="1" dirty="0"/>
              <a:t>Content</a:t>
            </a:r>
          </a:p>
          <a:p>
            <a:endParaRPr lang="en-US" b="1" dirty="0"/>
          </a:p>
          <a:p>
            <a:r>
              <a:rPr lang="en-US" sz="1600" dirty="0"/>
              <a:t>The following visualizations were created:</a:t>
            </a:r>
          </a:p>
          <a:p>
            <a:pPr marL="285750" indent="-285750">
              <a:buFont typeface="Arial" panose="020B0604020202020204" pitchFamily="34" charset="0"/>
              <a:buChar char="•"/>
            </a:pPr>
            <a:r>
              <a:rPr lang="en-US" sz="1600" dirty="0"/>
              <a:t>Scatter plot of salary vs years of experience</a:t>
            </a:r>
          </a:p>
          <a:p>
            <a:pPr marL="285750" indent="-285750">
              <a:buFont typeface="Arial" panose="020B0604020202020204" pitchFamily="34" charset="0"/>
              <a:buChar char="•"/>
            </a:pPr>
            <a:r>
              <a:rPr lang="en-US" sz="1600" dirty="0"/>
              <a:t>Scatter plot of salary vs benefits score</a:t>
            </a:r>
          </a:p>
          <a:p>
            <a:pPr marL="285750" indent="-285750">
              <a:buFont typeface="Arial" panose="020B0604020202020204" pitchFamily="34" charset="0"/>
              <a:buChar char="•"/>
            </a:pPr>
            <a:r>
              <a:rPr lang="en-US" sz="1600" dirty="0"/>
              <a:t>Boxplot of salary by experience level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endParaRPr lang="en-US" dirty="0"/>
          </a:p>
          <a:p>
            <a:endParaRPr lang="en-US" dirty="0"/>
          </a:p>
          <a:p>
            <a:r>
              <a:rPr lang="en-US" b="1" dirty="0"/>
              <a:t>Observations</a:t>
            </a:r>
          </a:p>
          <a:p>
            <a:pPr marL="285750" indent="-285750">
              <a:buFont typeface="Arial" panose="020B0604020202020204" pitchFamily="34" charset="0"/>
              <a:buChar char="•"/>
            </a:pPr>
            <a:r>
              <a:rPr lang="en-US" dirty="0"/>
              <a:t>Salary generally increases with years of experience</a:t>
            </a:r>
          </a:p>
          <a:p>
            <a:pPr marL="285750" indent="-285750">
              <a:buFont typeface="Arial" panose="020B0604020202020204" pitchFamily="34" charset="0"/>
              <a:buChar char="•"/>
            </a:pPr>
            <a:r>
              <a:rPr lang="en-US" dirty="0"/>
              <a:t>Higher benefits scores tend to be associated with higher salaries</a:t>
            </a:r>
          </a:p>
          <a:p>
            <a:pPr marL="285750" indent="-285750">
              <a:buFont typeface="Arial" panose="020B0604020202020204" pitchFamily="34" charset="0"/>
              <a:buChar char="•"/>
            </a:pPr>
            <a:r>
              <a:rPr lang="en-US" dirty="0"/>
              <a:t>Salary distributions differ across experience levels</a:t>
            </a:r>
          </a:p>
          <a:p>
            <a:endParaRPr lang="en-IN" dirty="0"/>
          </a:p>
        </p:txBody>
      </p:sp>
      <p:pic>
        <p:nvPicPr>
          <p:cNvPr id="5" name="Picture 4">
            <a:extLst>
              <a:ext uri="{FF2B5EF4-FFF2-40B4-BE49-F238E27FC236}">
                <a16:creationId xmlns:a16="http://schemas.microsoft.com/office/drawing/2014/main" id="{7E0F5209-3973-05AE-D75A-8FB1D39A6750}"/>
              </a:ext>
            </a:extLst>
          </p:cNvPr>
          <p:cNvPicPr>
            <a:picLocks noChangeAspect="1"/>
          </p:cNvPicPr>
          <p:nvPr/>
        </p:nvPicPr>
        <p:blipFill>
          <a:blip r:embed="rId2"/>
          <a:stretch>
            <a:fillRect/>
          </a:stretch>
        </p:blipFill>
        <p:spPr>
          <a:xfrm>
            <a:off x="5120860" y="1631092"/>
            <a:ext cx="6729270" cy="3818238"/>
          </a:xfrm>
          <a:prstGeom prst="rect">
            <a:avLst/>
          </a:prstGeom>
        </p:spPr>
      </p:pic>
    </p:spTree>
    <p:extLst>
      <p:ext uri="{BB962C8B-B14F-4D97-AF65-F5344CB8AC3E}">
        <p14:creationId xmlns:p14="http://schemas.microsoft.com/office/powerpoint/2010/main" val="18787114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00294D9-C6B2-CCB0-6596-13D1D86F7E4A}"/>
              </a:ext>
            </a:extLst>
          </p:cNvPr>
          <p:cNvPicPr>
            <a:picLocks noChangeAspect="1"/>
          </p:cNvPicPr>
          <p:nvPr/>
        </p:nvPicPr>
        <p:blipFill>
          <a:blip r:embed="rId2"/>
          <a:srcRect l="47738" r="1830" b="57784"/>
          <a:stretch>
            <a:fillRect/>
          </a:stretch>
        </p:blipFill>
        <p:spPr>
          <a:xfrm>
            <a:off x="8067979" y="812099"/>
            <a:ext cx="3065225" cy="2762452"/>
          </a:xfrm>
          <a:prstGeom prst="rect">
            <a:avLst/>
          </a:prstGeom>
        </p:spPr>
      </p:pic>
      <p:pic>
        <p:nvPicPr>
          <p:cNvPr id="8" name="Picture 7">
            <a:extLst>
              <a:ext uri="{FF2B5EF4-FFF2-40B4-BE49-F238E27FC236}">
                <a16:creationId xmlns:a16="http://schemas.microsoft.com/office/drawing/2014/main" id="{662BF54C-7FC8-62A8-ECDD-3D90743D8279}"/>
              </a:ext>
            </a:extLst>
          </p:cNvPr>
          <p:cNvPicPr>
            <a:picLocks noChangeAspect="1"/>
          </p:cNvPicPr>
          <p:nvPr/>
        </p:nvPicPr>
        <p:blipFill>
          <a:blip r:embed="rId2"/>
          <a:srcRect r="49567" b="57784"/>
          <a:stretch>
            <a:fillRect/>
          </a:stretch>
        </p:blipFill>
        <p:spPr>
          <a:xfrm>
            <a:off x="678870" y="812099"/>
            <a:ext cx="3065227" cy="2762452"/>
          </a:xfrm>
          <a:prstGeom prst="rect">
            <a:avLst/>
          </a:prstGeom>
        </p:spPr>
      </p:pic>
      <p:pic>
        <p:nvPicPr>
          <p:cNvPr id="11" name="Picture 10">
            <a:extLst>
              <a:ext uri="{FF2B5EF4-FFF2-40B4-BE49-F238E27FC236}">
                <a16:creationId xmlns:a16="http://schemas.microsoft.com/office/drawing/2014/main" id="{0E339296-254C-86F5-3012-8EF53B796576}"/>
              </a:ext>
            </a:extLst>
          </p:cNvPr>
          <p:cNvPicPr>
            <a:picLocks noChangeAspect="1"/>
          </p:cNvPicPr>
          <p:nvPr/>
        </p:nvPicPr>
        <p:blipFill>
          <a:blip r:embed="rId3"/>
          <a:stretch>
            <a:fillRect/>
          </a:stretch>
        </p:blipFill>
        <p:spPr>
          <a:xfrm>
            <a:off x="3104680" y="3697626"/>
            <a:ext cx="5459939" cy="2950309"/>
          </a:xfrm>
          <a:prstGeom prst="rect">
            <a:avLst/>
          </a:prstGeom>
        </p:spPr>
      </p:pic>
    </p:spTree>
    <p:extLst>
      <p:ext uri="{BB962C8B-B14F-4D97-AF65-F5344CB8AC3E}">
        <p14:creationId xmlns:p14="http://schemas.microsoft.com/office/powerpoint/2010/main" val="121782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15E76C-FD21-90DA-43B4-464395AD1933}"/>
              </a:ext>
            </a:extLst>
          </p:cNvPr>
          <p:cNvSpPr txBox="1"/>
          <p:nvPr/>
        </p:nvSpPr>
        <p:spPr>
          <a:xfrm>
            <a:off x="160638" y="432486"/>
            <a:ext cx="11763632" cy="584775"/>
          </a:xfrm>
          <a:prstGeom prst="rect">
            <a:avLst/>
          </a:prstGeom>
          <a:noFill/>
        </p:spPr>
        <p:txBody>
          <a:bodyPr wrap="square" rtlCol="0">
            <a:spAutoFit/>
          </a:bodyPr>
          <a:lstStyle/>
          <a:p>
            <a:pPr algn="ctr"/>
            <a:r>
              <a:rPr lang="en-IN" sz="3200" dirty="0">
                <a:latin typeface="Algerian" panose="04020705040A02060702" pitchFamily="82" charset="0"/>
              </a:rPr>
              <a:t>Multicollinearity Check Using VIF</a:t>
            </a:r>
          </a:p>
        </p:txBody>
      </p:sp>
      <p:sp>
        <p:nvSpPr>
          <p:cNvPr id="3" name="TextBox 2">
            <a:extLst>
              <a:ext uri="{FF2B5EF4-FFF2-40B4-BE49-F238E27FC236}">
                <a16:creationId xmlns:a16="http://schemas.microsoft.com/office/drawing/2014/main" id="{A9FF91E9-050B-F8AE-B9A1-11C87B1F7708}"/>
              </a:ext>
            </a:extLst>
          </p:cNvPr>
          <p:cNvSpPr txBox="1"/>
          <p:nvPr/>
        </p:nvSpPr>
        <p:spPr>
          <a:xfrm>
            <a:off x="160638" y="1556951"/>
            <a:ext cx="11763632" cy="4801314"/>
          </a:xfrm>
          <a:prstGeom prst="rect">
            <a:avLst/>
          </a:prstGeom>
          <a:noFill/>
        </p:spPr>
        <p:txBody>
          <a:bodyPr wrap="square" rtlCol="0">
            <a:spAutoFit/>
          </a:bodyPr>
          <a:lstStyle/>
          <a:p>
            <a:r>
              <a:rPr lang="en-US" b="1" dirty="0"/>
              <a:t>Content</a:t>
            </a:r>
          </a:p>
          <a:p>
            <a:endParaRPr lang="en-US" b="1" dirty="0"/>
          </a:p>
          <a:p>
            <a:r>
              <a:rPr lang="en-US" dirty="0"/>
              <a:t>Variance Inflation Factor (VIF) was used to detect multicollinearity among predictors.</a:t>
            </a:r>
          </a:p>
          <a:p>
            <a:r>
              <a:rPr lang="en-US" dirty="0"/>
              <a:t>Interpretation of VIF:</a:t>
            </a:r>
          </a:p>
          <a:p>
            <a:endParaRPr lang="en-US" dirty="0"/>
          </a:p>
          <a:p>
            <a:pPr marL="285750" indent="-285750">
              <a:buFont typeface="Arial" panose="020B0604020202020204" pitchFamily="34" charset="0"/>
              <a:buChar char="•"/>
            </a:pPr>
            <a:r>
              <a:rPr lang="en-US" dirty="0"/>
              <a:t>VIF less than 5: Acceptable</a:t>
            </a:r>
          </a:p>
          <a:p>
            <a:pPr marL="285750" indent="-285750">
              <a:buFont typeface="Arial" panose="020B0604020202020204" pitchFamily="34" charset="0"/>
              <a:buChar char="•"/>
            </a:pPr>
            <a:r>
              <a:rPr lang="en-US" dirty="0"/>
              <a:t>VIF greater than 5: Moderate multicollinearity</a:t>
            </a:r>
          </a:p>
          <a:p>
            <a:pPr marL="285750" indent="-285750">
              <a:buFont typeface="Arial" panose="020B0604020202020204" pitchFamily="34" charset="0"/>
              <a:buChar char="•"/>
            </a:pPr>
            <a:r>
              <a:rPr lang="en-US" dirty="0"/>
              <a:t>VIF greater than 10: Serious multicollinearity</a:t>
            </a:r>
          </a:p>
          <a:p>
            <a:pPr marL="285750" indent="-285750">
              <a:buFont typeface="Arial" panose="020B0604020202020204" pitchFamily="34" charset="0"/>
              <a:buChar char="•"/>
            </a:pPr>
            <a:endParaRPr lang="en-US" dirty="0"/>
          </a:p>
          <a:p>
            <a:endParaRPr lang="en-US" dirty="0"/>
          </a:p>
          <a:p>
            <a:endParaRPr lang="en-US" dirty="0"/>
          </a:p>
          <a:p>
            <a:endParaRPr lang="en-US" dirty="0"/>
          </a:p>
          <a:p>
            <a:endParaRPr lang="en-US" dirty="0"/>
          </a:p>
          <a:p>
            <a:endParaRPr lang="en-US" dirty="0"/>
          </a:p>
          <a:p>
            <a:r>
              <a:rPr lang="en-US" b="1" dirty="0"/>
              <a:t>Justification</a:t>
            </a:r>
          </a:p>
          <a:p>
            <a:r>
              <a:rPr lang="en-US" dirty="0"/>
              <a:t>Multicollinearity can distort regression coefficients and reduce model reliability.</a:t>
            </a:r>
          </a:p>
          <a:p>
            <a:endParaRPr lang="en-IN" dirty="0"/>
          </a:p>
        </p:txBody>
      </p:sp>
      <p:pic>
        <p:nvPicPr>
          <p:cNvPr id="5" name="Picture 4">
            <a:extLst>
              <a:ext uri="{FF2B5EF4-FFF2-40B4-BE49-F238E27FC236}">
                <a16:creationId xmlns:a16="http://schemas.microsoft.com/office/drawing/2014/main" id="{312C1FAA-007C-7359-5A38-52FAFCEC3C30}"/>
              </a:ext>
            </a:extLst>
          </p:cNvPr>
          <p:cNvPicPr>
            <a:picLocks noChangeAspect="1"/>
          </p:cNvPicPr>
          <p:nvPr/>
        </p:nvPicPr>
        <p:blipFill>
          <a:blip r:embed="rId2"/>
          <a:stretch>
            <a:fillRect/>
          </a:stretch>
        </p:blipFill>
        <p:spPr>
          <a:xfrm>
            <a:off x="6384438" y="2558724"/>
            <a:ext cx="5436859" cy="3083988"/>
          </a:xfrm>
          <a:prstGeom prst="rect">
            <a:avLst/>
          </a:prstGeom>
        </p:spPr>
      </p:pic>
    </p:spTree>
    <p:extLst>
      <p:ext uri="{BB962C8B-B14F-4D97-AF65-F5344CB8AC3E}">
        <p14:creationId xmlns:p14="http://schemas.microsoft.com/office/powerpoint/2010/main" val="4132759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D1D208-9A99-1613-3EAD-3FFC18F9677E}"/>
              </a:ext>
            </a:extLst>
          </p:cNvPr>
          <p:cNvSpPr txBox="1"/>
          <p:nvPr/>
        </p:nvSpPr>
        <p:spPr>
          <a:xfrm>
            <a:off x="378941" y="457200"/>
            <a:ext cx="11430000" cy="646331"/>
          </a:xfrm>
          <a:prstGeom prst="rect">
            <a:avLst/>
          </a:prstGeom>
          <a:noFill/>
        </p:spPr>
        <p:txBody>
          <a:bodyPr wrap="square" rtlCol="0">
            <a:spAutoFit/>
          </a:bodyPr>
          <a:lstStyle/>
          <a:p>
            <a:pPr algn="ctr"/>
            <a:r>
              <a:rPr lang="en-IN" sz="3600" dirty="0">
                <a:latin typeface="Algerian" panose="04020705040A02060702" pitchFamily="82" charset="0"/>
              </a:rPr>
              <a:t>Multiple Linear Regression</a:t>
            </a:r>
          </a:p>
        </p:txBody>
      </p:sp>
      <p:sp>
        <p:nvSpPr>
          <p:cNvPr id="3" name="TextBox 2">
            <a:extLst>
              <a:ext uri="{FF2B5EF4-FFF2-40B4-BE49-F238E27FC236}">
                <a16:creationId xmlns:a16="http://schemas.microsoft.com/office/drawing/2014/main" id="{C8542D68-5BDA-C21A-34BA-ABBE944B2DB0}"/>
              </a:ext>
            </a:extLst>
          </p:cNvPr>
          <p:cNvSpPr txBox="1"/>
          <p:nvPr/>
        </p:nvSpPr>
        <p:spPr>
          <a:xfrm>
            <a:off x="296562" y="1445741"/>
            <a:ext cx="11751276" cy="4801314"/>
          </a:xfrm>
          <a:prstGeom prst="rect">
            <a:avLst/>
          </a:prstGeom>
          <a:noFill/>
        </p:spPr>
        <p:txBody>
          <a:bodyPr wrap="square" rtlCol="0">
            <a:spAutoFit/>
          </a:bodyPr>
          <a:lstStyle/>
          <a:p>
            <a:r>
              <a:rPr lang="en-US" b="1" dirty="0"/>
              <a:t>Content</a:t>
            </a:r>
          </a:p>
          <a:p>
            <a:endParaRPr lang="en-US" b="1" dirty="0"/>
          </a:p>
          <a:p>
            <a:r>
              <a:rPr lang="en-US" dirty="0"/>
              <a:t>A multiple linear regression model was built using:</a:t>
            </a:r>
          </a:p>
          <a:p>
            <a:pPr marL="285750" indent="-285750">
              <a:buFont typeface="Arial" panose="020B0604020202020204" pitchFamily="34" charset="0"/>
              <a:buChar char="•"/>
            </a:pPr>
            <a:r>
              <a:rPr lang="en-US" dirty="0"/>
              <a:t>Years of experience</a:t>
            </a:r>
          </a:p>
          <a:p>
            <a:pPr marL="285750" indent="-285750">
              <a:buFont typeface="Arial" panose="020B0604020202020204" pitchFamily="34" charset="0"/>
              <a:buChar char="•"/>
            </a:pPr>
            <a:r>
              <a:rPr lang="en-US" dirty="0"/>
              <a:t>Benefits score</a:t>
            </a:r>
          </a:p>
          <a:p>
            <a:pPr marL="285750" indent="-285750">
              <a:buFont typeface="Arial" panose="020B0604020202020204" pitchFamily="34" charset="0"/>
              <a:buChar char="•"/>
            </a:pPr>
            <a:r>
              <a:rPr lang="en-US" dirty="0"/>
              <a:t>Experience level</a:t>
            </a:r>
          </a:p>
          <a:p>
            <a:pPr marL="285750" indent="-285750">
              <a:buFont typeface="Arial" panose="020B0604020202020204" pitchFamily="34" charset="0"/>
              <a:buChar char="•"/>
            </a:pPr>
            <a:r>
              <a:rPr lang="en-US" dirty="0"/>
              <a:t>Education requirement</a:t>
            </a:r>
          </a:p>
          <a:p>
            <a:pPr marL="285750" indent="-285750">
              <a:buFont typeface="Arial" panose="020B0604020202020204" pitchFamily="34" charset="0"/>
              <a:buChar char="•"/>
            </a:pPr>
            <a:r>
              <a:rPr lang="en-US" dirty="0"/>
              <a:t>Company size</a:t>
            </a:r>
          </a:p>
          <a:p>
            <a:endParaRPr lang="en-US" dirty="0"/>
          </a:p>
          <a:p>
            <a:r>
              <a:rPr lang="en-US" b="1" dirty="0"/>
              <a:t>Model Evaluation</a:t>
            </a:r>
          </a:p>
          <a:p>
            <a:pPr marL="285750" indent="-285750">
              <a:buFont typeface="Arial" panose="020B0604020202020204" pitchFamily="34" charset="0"/>
              <a:buChar char="•"/>
            </a:pPr>
            <a:r>
              <a:rPr lang="en-US" dirty="0"/>
              <a:t>R-squared value from OLS summary</a:t>
            </a:r>
          </a:p>
          <a:p>
            <a:pPr marL="285750" indent="-285750">
              <a:buFont typeface="Arial" panose="020B0604020202020204" pitchFamily="34" charset="0"/>
              <a:buChar char="•"/>
            </a:pPr>
            <a:r>
              <a:rPr lang="en-US" dirty="0"/>
              <a:t>Test Mean Squared Error (MSE)</a:t>
            </a:r>
          </a:p>
          <a:p>
            <a:pPr marL="285750" indent="-285750">
              <a:buFont typeface="Arial" panose="020B0604020202020204" pitchFamily="34" charset="0"/>
              <a:buChar char="•"/>
            </a:pPr>
            <a:r>
              <a:rPr lang="en-US" dirty="0"/>
              <a:t>Statistical significance using p-values</a:t>
            </a:r>
          </a:p>
          <a:p>
            <a:endParaRPr lang="en-US" dirty="0"/>
          </a:p>
          <a:p>
            <a:r>
              <a:rPr lang="en-US" b="1" dirty="0"/>
              <a:t>Justification </a:t>
            </a:r>
          </a:p>
          <a:p>
            <a:r>
              <a:rPr lang="en-US" dirty="0"/>
              <a:t>Linear regression helps identify how different factors influence salary.</a:t>
            </a:r>
          </a:p>
          <a:p>
            <a:endParaRPr lang="en-IN" dirty="0"/>
          </a:p>
        </p:txBody>
      </p:sp>
      <p:pic>
        <p:nvPicPr>
          <p:cNvPr id="5" name="Picture 4">
            <a:extLst>
              <a:ext uri="{FF2B5EF4-FFF2-40B4-BE49-F238E27FC236}">
                <a16:creationId xmlns:a16="http://schemas.microsoft.com/office/drawing/2014/main" id="{E2F0702A-FE18-463B-2686-65B126E716B7}"/>
              </a:ext>
            </a:extLst>
          </p:cNvPr>
          <p:cNvPicPr>
            <a:picLocks noChangeAspect="1"/>
          </p:cNvPicPr>
          <p:nvPr/>
        </p:nvPicPr>
        <p:blipFill>
          <a:blip r:embed="rId2"/>
          <a:stretch>
            <a:fillRect/>
          </a:stretch>
        </p:blipFill>
        <p:spPr>
          <a:xfrm>
            <a:off x="6408082" y="1103531"/>
            <a:ext cx="5487356" cy="3792217"/>
          </a:xfrm>
          <a:prstGeom prst="rect">
            <a:avLst/>
          </a:prstGeom>
        </p:spPr>
      </p:pic>
      <p:pic>
        <p:nvPicPr>
          <p:cNvPr id="7" name="Picture 6">
            <a:extLst>
              <a:ext uri="{FF2B5EF4-FFF2-40B4-BE49-F238E27FC236}">
                <a16:creationId xmlns:a16="http://schemas.microsoft.com/office/drawing/2014/main" id="{0AF67513-E8A3-0781-BD95-22D882A2B538}"/>
              </a:ext>
            </a:extLst>
          </p:cNvPr>
          <p:cNvPicPr>
            <a:picLocks noChangeAspect="1"/>
          </p:cNvPicPr>
          <p:nvPr/>
        </p:nvPicPr>
        <p:blipFill>
          <a:blip r:embed="rId3"/>
          <a:stretch>
            <a:fillRect/>
          </a:stretch>
        </p:blipFill>
        <p:spPr>
          <a:xfrm>
            <a:off x="6298624" y="4942663"/>
            <a:ext cx="5706271" cy="628738"/>
          </a:xfrm>
          <a:prstGeom prst="rect">
            <a:avLst/>
          </a:prstGeom>
        </p:spPr>
      </p:pic>
    </p:spTree>
    <p:extLst>
      <p:ext uri="{BB962C8B-B14F-4D97-AF65-F5344CB8AC3E}">
        <p14:creationId xmlns:p14="http://schemas.microsoft.com/office/powerpoint/2010/main" val="3207561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F38717-D26B-574A-4A4D-212D382E0F9B}"/>
              </a:ext>
            </a:extLst>
          </p:cNvPr>
          <p:cNvSpPr txBox="1"/>
          <p:nvPr/>
        </p:nvSpPr>
        <p:spPr>
          <a:xfrm>
            <a:off x="407773" y="444843"/>
            <a:ext cx="11553568" cy="646331"/>
          </a:xfrm>
          <a:prstGeom prst="rect">
            <a:avLst/>
          </a:prstGeom>
          <a:noFill/>
        </p:spPr>
        <p:txBody>
          <a:bodyPr wrap="square" rtlCol="0">
            <a:spAutoFit/>
          </a:bodyPr>
          <a:lstStyle/>
          <a:p>
            <a:pPr algn="ctr"/>
            <a:r>
              <a:rPr lang="en-IN" sz="3600" dirty="0">
                <a:latin typeface="Algerian" panose="04020705040A02060702" pitchFamily="82" charset="0"/>
              </a:rPr>
              <a:t>KNN Regression</a:t>
            </a:r>
          </a:p>
        </p:txBody>
      </p:sp>
      <p:sp>
        <p:nvSpPr>
          <p:cNvPr id="3" name="TextBox 2">
            <a:extLst>
              <a:ext uri="{FF2B5EF4-FFF2-40B4-BE49-F238E27FC236}">
                <a16:creationId xmlns:a16="http://schemas.microsoft.com/office/drawing/2014/main" id="{A2B0360C-3C9D-1698-84EE-233A446E1C7E}"/>
              </a:ext>
            </a:extLst>
          </p:cNvPr>
          <p:cNvSpPr txBox="1"/>
          <p:nvPr/>
        </p:nvSpPr>
        <p:spPr>
          <a:xfrm>
            <a:off x="490151" y="1618735"/>
            <a:ext cx="11701849" cy="4524315"/>
          </a:xfrm>
          <a:prstGeom prst="rect">
            <a:avLst/>
          </a:prstGeom>
          <a:noFill/>
        </p:spPr>
        <p:txBody>
          <a:bodyPr wrap="square" rtlCol="0">
            <a:spAutoFit/>
          </a:bodyPr>
          <a:lstStyle/>
          <a:p>
            <a:r>
              <a:rPr lang="en-US" b="1" dirty="0"/>
              <a:t>Content</a:t>
            </a:r>
          </a:p>
          <a:p>
            <a:endParaRPr lang="en-US" b="1" dirty="0"/>
          </a:p>
          <a:p>
            <a:r>
              <a:rPr lang="en-US" dirty="0"/>
              <a:t>A KNN regression model with k = 5 was used to predict salary.</a:t>
            </a:r>
          </a:p>
          <a:p>
            <a:endParaRPr lang="en-US" dirty="0"/>
          </a:p>
          <a:p>
            <a:r>
              <a:rPr lang="en-US" b="1" dirty="0"/>
              <a:t>Key Points</a:t>
            </a:r>
          </a:p>
          <a:p>
            <a:endParaRPr lang="en-US" b="1" dirty="0"/>
          </a:p>
          <a:p>
            <a:pPr marL="285750" indent="-285750">
              <a:buFont typeface="Arial" panose="020B0604020202020204" pitchFamily="34" charset="0"/>
              <a:buChar char="•"/>
            </a:pPr>
            <a:r>
              <a:rPr lang="en-US" dirty="0"/>
              <a:t>Uses nearby observations to predict salary</a:t>
            </a:r>
          </a:p>
          <a:p>
            <a:pPr marL="285750" indent="-285750">
              <a:buFont typeface="Arial" panose="020B0604020202020204" pitchFamily="34" charset="0"/>
              <a:buChar char="•"/>
            </a:pPr>
            <a:r>
              <a:rPr lang="en-US" dirty="0"/>
              <a:t>Sensitive to feature scaling</a:t>
            </a:r>
          </a:p>
          <a:p>
            <a:pPr marL="285750" indent="-285750">
              <a:buFont typeface="Arial" panose="020B0604020202020204" pitchFamily="34" charset="0"/>
              <a:buChar char="•"/>
            </a:pPr>
            <a:r>
              <a:rPr lang="en-US" dirty="0"/>
              <a:t>Standardization was necessary before applying KNN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endParaRPr lang="en-US" dirty="0"/>
          </a:p>
          <a:p>
            <a:r>
              <a:rPr lang="en-US" b="1" dirty="0"/>
              <a:t>Evaluation</a:t>
            </a:r>
          </a:p>
          <a:p>
            <a:pPr marL="285750" indent="-285750">
              <a:buFont typeface="Arial" panose="020B0604020202020204" pitchFamily="34" charset="0"/>
              <a:buChar char="•"/>
            </a:pPr>
            <a:r>
              <a:rPr lang="en-US" dirty="0"/>
              <a:t>Test MSE was calculated and compared with linear regression</a:t>
            </a:r>
          </a:p>
        </p:txBody>
      </p:sp>
      <p:pic>
        <p:nvPicPr>
          <p:cNvPr id="5" name="Picture 4">
            <a:extLst>
              <a:ext uri="{FF2B5EF4-FFF2-40B4-BE49-F238E27FC236}">
                <a16:creationId xmlns:a16="http://schemas.microsoft.com/office/drawing/2014/main" id="{7C049EC0-2560-44D6-0DB4-120B4FB5548F}"/>
              </a:ext>
            </a:extLst>
          </p:cNvPr>
          <p:cNvPicPr>
            <a:picLocks noChangeAspect="1"/>
          </p:cNvPicPr>
          <p:nvPr/>
        </p:nvPicPr>
        <p:blipFill>
          <a:blip r:embed="rId2"/>
          <a:stretch>
            <a:fillRect/>
          </a:stretch>
        </p:blipFill>
        <p:spPr>
          <a:xfrm>
            <a:off x="1260390" y="4287796"/>
            <a:ext cx="7638804" cy="1080730"/>
          </a:xfrm>
          <a:prstGeom prst="rect">
            <a:avLst/>
          </a:prstGeom>
        </p:spPr>
      </p:pic>
    </p:spTree>
    <p:extLst>
      <p:ext uri="{BB962C8B-B14F-4D97-AF65-F5344CB8AC3E}">
        <p14:creationId xmlns:p14="http://schemas.microsoft.com/office/powerpoint/2010/main" val="1771442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72FED-6D7B-994D-60DB-5B61516207C4}"/>
              </a:ext>
            </a:extLst>
          </p:cNvPr>
          <p:cNvSpPr txBox="1"/>
          <p:nvPr/>
        </p:nvSpPr>
        <p:spPr>
          <a:xfrm>
            <a:off x="383059" y="370703"/>
            <a:ext cx="11578282" cy="646331"/>
          </a:xfrm>
          <a:prstGeom prst="rect">
            <a:avLst/>
          </a:prstGeom>
          <a:noFill/>
        </p:spPr>
        <p:txBody>
          <a:bodyPr wrap="square" rtlCol="0">
            <a:spAutoFit/>
          </a:bodyPr>
          <a:lstStyle/>
          <a:p>
            <a:pPr algn="ctr"/>
            <a:r>
              <a:rPr lang="en-IN" sz="3600" dirty="0">
                <a:latin typeface="Algerian" panose="04020705040A02060702" pitchFamily="82" charset="0"/>
              </a:rPr>
              <a:t>LASSO Regression</a:t>
            </a:r>
          </a:p>
        </p:txBody>
      </p:sp>
      <p:sp>
        <p:nvSpPr>
          <p:cNvPr id="3" name="TextBox 2">
            <a:extLst>
              <a:ext uri="{FF2B5EF4-FFF2-40B4-BE49-F238E27FC236}">
                <a16:creationId xmlns:a16="http://schemas.microsoft.com/office/drawing/2014/main" id="{E0F569D0-6A57-31F0-D1EB-B67DF28D439E}"/>
              </a:ext>
            </a:extLst>
          </p:cNvPr>
          <p:cNvSpPr txBox="1"/>
          <p:nvPr/>
        </p:nvSpPr>
        <p:spPr>
          <a:xfrm>
            <a:off x="383059" y="1482811"/>
            <a:ext cx="11343503" cy="3970318"/>
          </a:xfrm>
          <a:prstGeom prst="rect">
            <a:avLst/>
          </a:prstGeom>
          <a:noFill/>
        </p:spPr>
        <p:txBody>
          <a:bodyPr wrap="square" rtlCol="0">
            <a:spAutoFit/>
          </a:bodyPr>
          <a:lstStyle/>
          <a:p>
            <a:r>
              <a:rPr lang="en-US" b="1" dirty="0"/>
              <a:t>Content</a:t>
            </a:r>
          </a:p>
          <a:p>
            <a:endParaRPr lang="en-US" b="1" dirty="0"/>
          </a:p>
          <a:p>
            <a:r>
              <a:rPr lang="en-US" dirty="0"/>
              <a:t>LASSO regression was applied with alpha = 100.</a:t>
            </a:r>
          </a:p>
          <a:p>
            <a:endParaRPr lang="en-US" dirty="0"/>
          </a:p>
          <a:p>
            <a:r>
              <a:rPr lang="en-US" b="1" dirty="0"/>
              <a:t>Key Features</a:t>
            </a:r>
          </a:p>
          <a:p>
            <a:endParaRPr lang="en-US" b="1" dirty="0"/>
          </a:p>
          <a:p>
            <a:pPr marL="285750" indent="-285750">
              <a:buFont typeface="Arial" panose="020B0604020202020204" pitchFamily="34" charset="0"/>
              <a:buChar char="•"/>
            </a:pPr>
            <a:r>
              <a:rPr lang="en-US" dirty="0"/>
              <a:t>Performs variable selection</a:t>
            </a:r>
          </a:p>
          <a:p>
            <a:pPr marL="285750" indent="-285750">
              <a:buFont typeface="Arial" panose="020B0604020202020204" pitchFamily="34" charset="0"/>
              <a:buChar char="•"/>
            </a:pPr>
            <a:r>
              <a:rPr lang="en-US" dirty="0"/>
              <a:t>Shrinks some coefficients to zero</a:t>
            </a:r>
          </a:p>
          <a:p>
            <a:pPr marL="285750" indent="-285750">
              <a:buFont typeface="Arial" panose="020B0604020202020204" pitchFamily="34" charset="0"/>
              <a:buChar char="•"/>
            </a:pPr>
            <a:r>
              <a:rPr lang="en-US" dirty="0"/>
              <a:t>Helps reduce overfitting</a:t>
            </a:r>
          </a:p>
          <a:p>
            <a:endParaRPr lang="en-US" dirty="0"/>
          </a:p>
          <a:p>
            <a:r>
              <a:rPr lang="en-US" b="1" dirty="0"/>
              <a:t>Observations</a:t>
            </a:r>
          </a:p>
          <a:p>
            <a:endParaRPr lang="en-US" b="1" dirty="0"/>
          </a:p>
          <a:p>
            <a:pPr marL="285750" indent="-285750">
              <a:buFont typeface="Arial" panose="020B0604020202020204" pitchFamily="34" charset="0"/>
              <a:buChar char="•"/>
            </a:pPr>
            <a:r>
              <a:rPr lang="en-US" dirty="0"/>
              <a:t>Some predictors had coefficients equal to zero</a:t>
            </a:r>
          </a:p>
          <a:p>
            <a:pPr marL="285750" indent="-285750">
              <a:buFont typeface="Arial" panose="020B0604020202020204" pitchFamily="34" charset="0"/>
              <a:buChar char="•"/>
            </a:pPr>
            <a:r>
              <a:rPr lang="en-US" dirty="0"/>
              <a:t>Only important predictors remained in the model</a:t>
            </a:r>
          </a:p>
        </p:txBody>
      </p:sp>
      <p:pic>
        <p:nvPicPr>
          <p:cNvPr id="5" name="Picture 4">
            <a:extLst>
              <a:ext uri="{FF2B5EF4-FFF2-40B4-BE49-F238E27FC236}">
                <a16:creationId xmlns:a16="http://schemas.microsoft.com/office/drawing/2014/main" id="{43768F10-664F-49C0-670D-4A75AD614B85}"/>
              </a:ext>
            </a:extLst>
          </p:cNvPr>
          <p:cNvPicPr>
            <a:picLocks noChangeAspect="1"/>
          </p:cNvPicPr>
          <p:nvPr/>
        </p:nvPicPr>
        <p:blipFill>
          <a:blip r:embed="rId2"/>
          <a:stretch>
            <a:fillRect/>
          </a:stretch>
        </p:blipFill>
        <p:spPr>
          <a:xfrm>
            <a:off x="6054810" y="1569308"/>
            <a:ext cx="5829913" cy="3504689"/>
          </a:xfrm>
          <a:prstGeom prst="rect">
            <a:avLst/>
          </a:prstGeom>
        </p:spPr>
      </p:pic>
    </p:spTree>
    <p:extLst>
      <p:ext uri="{BB962C8B-B14F-4D97-AF65-F5344CB8AC3E}">
        <p14:creationId xmlns:p14="http://schemas.microsoft.com/office/powerpoint/2010/main" val="885194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E939CA-6415-4B20-500D-56A4760C1964}"/>
              </a:ext>
            </a:extLst>
          </p:cNvPr>
          <p:cNvSpPr txBox="1"/>
          <p:nvPr/>
        </p:nvSpPr>
        <p:spPr>
          <a:xfrm>
            <a:off x="345989" y="518984"/>
            <a:ext cx="11442357" cy="646331"/>
          </a:xfrm>
          <a:prstGeom prst="rect">
            <a:avLst/>
          </a:prstGeom>
          <a:noFill/>
        </p:spPr>
        <p:txBody>
          <a:bodyPr wrap="square" rtlCol="0">
            <a:spAutoFit/>
          </a:bodyPr>
          <a:lstStyle/>
          <a:p>
            <a:pPr algn="ctr"/>
            <a:r>
              <a:rPr lang="en-IN" sz="3600" dirty="0">
                <a:latin typeface="Algerian" panose="04020705040A02060702" pitchFamily="82" charset="0"/>
              </a:rPr>
              <a:t>Logistic Regression</a:t>
            </a:r>
          </a:p>
        </p:txBody>
      </p:sp>
      <p:sp>
        <p:nvSpPr>
          <p:cNvPr id="3" name="TextBox 2">
            <a:extLst>
              <a:ext uri="{FF2B5EF4-FFF2-40B4-BE49-F238E27FC236}">
                <a16:creationId xmlns:a16="http://schemas.microsoft.com/office/drawing/2014/main" id="{00898AD9-42D1-DA8C-60E2-A81DBD7FCAD3}"/>
              </a:ext>
            </a:extLst>
          </p:cNvPr>
          <p:cNvSpPr txBox="1"/>
          <p:nvPr/>
        </p:nvSpPr>
        <p:spPr>
          <a:xfrm>
            <a:off x="345989" y="1754659"/>
            <a:ext cx="11442357" cy="4247317"/>
          </a:xfrm>
          <a:prstGeom prst="rect">
            <a:avLst/>
          </a:prstGeom>
          <a:noFill/>
        </p:spPr>
        <p:txBody>
          <a:bodyPr wrap="square" rtlCol="0">
            <a:spAutoFit/>
          </a:bodyPr>
          <a:lstStyle/>
          <a:p>
            <a:r>
              <a:rPr lang="en-US" b="1" dirty="0"/>
              <a:t>Content</a:t>
            </a:r>
          </a:p>
          <a:p>
            <a:endParaRPr lang="en-US" b="1" dirty="0"/>
          </a:p>
          <a:p>
            <a:r>
              <a:rPr lang="en-US" dirty="0"/>
              <a:t>A logistic regression model was used to predict whether a job is fully remote.</a:t>
            </a:r>
          </a:p>
          <a:p>
            <a:endParaRPr lang="en-US" dirty="0"/>
          </a:p>
          <a:p>
            <a:r>
              <a:rPr lang="en-US" b="1" dirty="0"/>
              <a:t>Evaluation Metrics</a:t>
            </a:r>
          </a:p>
          <a:p>
            <a:endParaRPr lang="en-US" b="1" dirty="0"/>
          </a:p>
          <a:p>
            <a:pPr marL="285750" indent="-285750">
              <a:buFont typeface="Arial" panose="020B0604020202020204" pitchFamily="34" charset="0"/>
              <a:buChar char="•"/>
            </a:pPr>
            <a:r>
              <a:rPr lang="en-US" dirty="0"/>
              <a:t>Confusion Matrix</a:t>
            </a:r>
          </a:p>
          <a:p>
            <a:pPr marL="285750" indent="-285750">
              <a:buFont typeface="Arial" panose="020B0604020202020204" pitchFamily="34" charset="0"/>
              <a:buChar char="•"/>
            </a:pPr>
            <a:r>
              <a:rPr lang="en-US" dirty="0"/>
              <a:t>Accuracy Score</a:t>
            </a:r>
          </a:p>
          <a:p>
            <a:pPr marL="285750" indent="-285750">
              <a:buFont typeface="Arial" panose="020B0604020202020204" pitchFamily="34" charset="0"/>
              <a:buChar char="•"/>
            </a:pPr>
            <a:r>
              <a:rPr lang="en-US" dirty="0"/>
              <a:t>ROC Curve</a:t>
            </a:r>
          </a:p>
          <a:p>
            <a:pPr marL="285750" indent="-285750">
              <a:buFont typeface="Arial" panose="020B0604020202020204" pitchFamily="34" charset="0"/>
              <a:buChar char="•"/>
            </a:pPr>
            <a:r>
              <a:rPr lang="en-US" dirty="0"/>
              <a:t>Area Under Curve (AUC)</a:t>
            </a:r>
          </a:p>
          <a:p>
            <a:pPr marL="285750" indent="-285750">
              <a:buFont typeface="Arial" panose="020B0604020202020204" pitchFamily="34" charset="0"/>
              <a:buChar char="•"/>
            </a:pPr>
            <a:endParaRPr lang="en-US" dirty="0"/>
          </a:p>
          <a:p>
            <a:r>
              <a:rPr lang="en-US" b="1" dirty="0"/>
              <a:t>Justification</a:t>
            </a:r>
          </a:p>
          <a:p>
            <a:endParaRPr lang="en-US" b="1" dirty="0"/>
          </a:p>
          <a:p>
            <a:r>
              <a:rPr lang="en-US" dirty="0"/>
              <a:t>Logistic regression is appropriate for binary classification problems.</a:t>
            </a:r>
          </a:p>
          <a:p>
            <a:endParaRPr lang="en-IN" dirty="0"/>
          </a:p>
        </p:txBody>
      </p:sp>
      <p:pic>
        <p:nvPicPr>
          <p:cNvPr id="5" name="Picture 4">
            <a:extLst>
              <a:ext uri="{FF2B5EF4-FFF2-40B4-BE49-F238E27FC236}">
                <a16:creationId xmlns:a16="http://schemas.microsoft.com/office/drawing/2014/main" id="{2E0482DF-032B-9EA8-EA7C-8FD616D98B63}"/>
              </a:ext>
            </a:extLst>
          </p:cNvPr>
          <p:cNvPicPr>
            <a:picLocks noChangeAspect="1"/>
          </p:cNvPicPr>
          <p:nvPr/>
        </p:nvPicPr>
        <p:blipFill>
          <a:blip r:embed="rId2"/>
          <a:stretch>
            <a:fillRect/>
          </a:stretch>
        </p:blipFill>
        <p:spPr>
          <a:xfrm>
            <a:off x="4231505" y="3044531"/>
            <a:ext cx="7556841" cy="1667571"/>
          </a:xfrm>
          <a:prstGeom prst="rect">
            <a:avLst/>
          </a:prstGeom>
        </p:spPr>
      </p:pic>
    </p:spTree>
    <p:extLst>
      <p:ext uri="{BB962C8B-B14F-4D97-AF65-F5344CB8AC3E}">
        <p14:creationId xmlns:p14="http://schemas.microsoft.com/office/powerpoint/2010/main" val="370440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69FA1F-F4B0-3DBF-5153-06ABC9CEA4B5}"/>
              </a:ext>
            </a:extLst>
          </p:cNvPr>
          <p:cNvSpPr txBox="1"/>
          <p:nvPr/>
        </p:nvSpPr>
        <p:spPr>
          <a:xfrm>
            <a:off x="383059" y="469557"/>
            <a:ext cx="11430000" cy="646331"/>
          </a:xfrm>
          <a:prstGeom prst="rect">
            <a:avLst/>
          </a:prstGeom>
          <a:noFill/>
        </p:spPr>
        <p:txBody>
          <a:bodyPr wrap="square" rtlCol="0">
            <a:spAutoFit/>
          </a:bodyPr>
          <a:lstStyle/>
          <a:p>
            <a:pPr algn="ctr"/>
            <a:r>
              <a:rPr lang="en-US" sz="3600" dirty="0">
                <a:latin typeface="Algerian" panose="04020705040A02060702" pitchFamily="82" charset="0"/>
              </a:rPr>
              <a:t>KNN Classification and Naive Bayes</a:t>
            </a:r>
            <a:endParaRPr lang="en-IN" sz="3600" dirty="0">
              <a:latin typeface="Algerian" panose="04020705040A02060702" pitchFamily="82" charset="0"/>
            </a:endParaRPr>
          </a:p>
        </p:txBody>
      </p:sp>
      <p:sp>
        <p:nvSpPr>
          <p:cNvPr id="3" name="TextBox 2">
            <a:extLst>
              <a:ext uri="{FF2B5EF4-FFF2-40B4-BE49-F238E27FC236}">
                <a16:creationId xmlns:a16="http://schemas.microsoft.com/office/drawing/2014/main" id="{48C18BAC-65A7-B7CE-F305-BE770CDA3270}"/>
              </a:ext>
            </a:extLst>
          </p:cNvPr>
          <p:cNvSpPr txBox="1"/>
          <p:nvPr/>
        </p:nvSpPr>
        <p:spPr>
          <a:xfrm>
            <a:off x="383059" y="1594022"/>
            <a:ext cx="11430000" cy="5078313"/>
          </a:xfrm>
          <a:prstGeom prst="rect">
            <a:avLst/>
          </a:prstGeom>
          <a:noFill/>
        </p:spPr>
        <p:txBody>
          <a:bodyPr wrap="square" rtlCol="0">
            <a:spAutoFit/>
          </a:bodyPr>
          <a:lstStyle/>
          <a:p>
            <a:r>
              <a:rPr lang="en-US" b="1" dirty="0"/>
              <a:t>Content</a:t>
            </a:r>
          </a:p>
          <a:p>
            <a:endParaRPr lang="en-US" b="1" dirty="0"/>
          </a:p>
          <a:p>
            <a:pPr marL="285750" indent="-285750">
              <a:buFont typeface="Arial" panose="020B0604020202020204" pitchFamily="34" charset="0"/>
              <a:buChar char="•"/>
            </a:pPr>
            <a:r>
              <a:rPr lang="en-US" dirty="0"/>
              <a:t>Two additional classification models were tested:</a:t>
            </a:r>
          </a:p>
          <a:p>
            <a:pPr marL="285750" indent="-285750">
              <a:buFont typeface="Arial" panose="020B0604020202020204" pitchFamily="34" charset="0"/>
              <a:buChar char="•"/>
            </a:pPr>
            <a:r>
              <a:rPr lang="en-US" dirty="0"/>
              <a:t>K-Nearest Neighbors Classification</a:t>
            </a:r>
          </a:p>
          <a:p>
            <a:pPr marL="285750" indent="-285750">
              <a:buFont typeface="Arial" panose="020B0604020202020204" pitchFamily="34" charset="0"/>
              <a:buChar char="•"/>
            </a:pPr>
            <a:r>
              <a:rPr lang="en-US" dirty="0"/>
              <a:t>Gaussian Naive Bayes</a:t>
            </a:r>
          </a:p>
          <a:p>
            <a:endParaRPr lang="en-US" dirty="0"/>
          </a:p>
          <a:p>
            <a:endParaRPr lang="en-US" dirty="0"/>
          </a:p>
          <a:p>
            <a:endParaRPr lang="en-US" dirty="0"/>
          </a:p>
          <a:p>
            <a:r>
              <a:rPr lang="en-US" b="1" dirty="0"/>
              <a:t>Evaluation</a:t>
            </a:r>
          </a:p>
          <a:p>
            <a:endParaRPr lang="en-US" b="1" dirty="0"/>
          </a:p>
          <a:p>
            <a:pPr marL="285750" indent="-285750">
              <a:buFont typeface="Arial" panose="020B0604020202020204" pitchFamily="34" charset="0"/>
              <a:buChar char="•"/>
            </a:pPr>
            <a:r>
              <a:rPr lang="en-US" dirty="0"/>
              <a:t>Accuracy scores were compared across models</a:t>
            </a:r>
          </a:p>
          <a:p>
            <a:pPr marL="285750" indent="-285750">
              <a:buFont typeface="Arial" panose="020B0604020202020204" pitchFamily="34" charset="0"/>
              <a:buChar char="•"/>
            </a:pPr>
            <a:r>
              <a:rPr lang="en-US" dirty="0"/>
              <a:t>Confusion matrix was generated for KNN classification</a:t>
            </a:r>
          </a:p>
          <a:p>
            <a:endParaRPr lang="en-US" dirty="0"/>
          </a:p>
          <a:p>
            <a:endParaRPr lang="en-US" b="1" dirty="0"/>
          </a:p>
          <a:p>
            <a:endParaRPr lang="en-US" b="1" dirty="0"/>
          </a:p>
          <a:p>
            <a:r>
              <a:rPr lang="en-US" b="1" dirty="0"/>
              <a:t>Justification</a:t>
            </a:r>
          </a:p>
          <a:p>
            <a:r>
              <a:rPr lang="en-US" dirty="0"/>
              <a:t>Comparing multiple models helps identify the best method for classification.</a:t>
            </a:r>
          </a:p>
          <a:p>
            <a:endParaRPr lang="en-IN" dirty="0"/>
          </a:p>
        </p:txBody>
      </p:sp>
      <p:pic>
        <p:nvPicPr>
          <p:cNvPr id="5" name="Picture 4">
            <a:extLst>
              <a:ext uri="{FF2B5EF4-FFF2-40B4-BE49-F238E27FC236}">
                <a16:creationId xmlns:a16="http://schemas.microsoft.com/office/drawing/2014/main" id="{4240D701-DC37-B541-FA9A-9F6B557A6F32}"/>
              </a:ext>
            </a:extLst>
          </p:cNvPr>
          <p:cNvPicPr>
            <a:picLocks noChangeAspect="1"/>
          </p:cNvPicPr>
          <p:nvPr/>
        </p:nvPicPr>
        <p:blipFill>
          <a:blip r:embed="rId2"/>
          <a:stretch>
            <a:fillRect/>
          </a:stretch>
        </p:blipFill>
        <p:spPr>
          <a:xfrm>
            <a:off x="5150209" y="2710222"/>
            <a:ext cx="6504943" cy="1437556"/>
          </a:xfrm>
          <a:prstGeom prst="rect">
            <a:avLst/>
          </a:prstGeom>
        </p:spPr>
      </p:pic>
      <p:pic>
        <p:nvPicPr>
          <p:cNvPr id="7" name="Picture 6">
            <a:extLst>
              <a:ext uri="{FF2B5EF4-FFF2-40B4-BE49-F238E27FC236}">
                <a16:creationId xmlns:a16="http://schemas.microsoft.com/office/drawing/2014/main" id="{BEFD17E2-137A-114D-6CC3-252C85095479}"/>
              </a:ext>
            </a:extLst>
          </p:cNvPr>
          <p:cNvPicPr>
            <a:picLocks noChangeAspect="1"/>
          </p:cNvPicPr>
          <p:nvPr/>
        </p:nvPicPr>
        <p:blipFill>
          <a:blip r:embed="rId3"/>
          <a:stretch>
            <a:fillRect/>
          </a:stretch>
        </p:blipFill>
        <p:spPr>
          <a:xfrm>
            <a:off x="4926422" y="5016108"/>
            <a:ext cx="6952515" cy="985605"/>
          </a:xfrm>
          <a:prstGeom prst="rect">
            <a:avLst/>
          </a:prstGeom>
        </p:spPr>
      </p:pic>
    </p:spTree>
    <p:extLst>
      <p:ext uri="{BB962C8B-B14F-4D97-AF65-F5344CB8AC3E}">
        <p14:creationId xmlns:p14="http://schemas.microsoft.com/office/powerpoint/2010/main" val="156599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EE738CC-F056-B3BA-1303-42BCD493EEE6}"/>
              </a:ext>
            </a:extLst>
          </p:cNvPr>
          <p:cNvPicPr>
            <a:picLocks noChangeAspect="1"/>
          </p:cNvPicPr>
          <p:nvPr/>
        </p:nvPicPr>
        <p:blipFill>
          <a:blip r:embed="rId2"/>
          <a:stretch>
            <a:fillRect/>
          </a:stretch>
        </p:blipFill>
        <p:spPr>
          <a:xfrm>
            <a:off x="277792" y="160604"/>
            <a:ext cx="6228606" cy="6536792"/>
          </a:xfrm>
          <a:prstGeom prst="rect">
            <a:avLst/>
          </a:prstGeom>
        </p:spPr>
      </p:pic>
      <p:pic>
        <p:nvPicPr>
          <p:cNvPr id="5" name="Picture 4">
            <a:extLst>
              <a:ext uri="{FF2B5EF4-FFF2-40B4-BE49-F238E27FC236}">
                <a16:creationId xmlns:a16="http://schemas.microsoft.com/office/drawing/2014/main" id="{E4C557B7-D4EC-6651-CC77-70A9CB23A69A}"/>
              </a:ext>
            </a:extLst>
          </p:cNvPr>
          <p:cNvPicPr>
            <a:picLocks noChangeAspect="1"/>
          </p:cNvPicPr>
          <p:nvPr/>
        </p:nvPicPr>
        <p:blipFill>
          <a:blip r:embed="rId3"/>
          <a:stretch>
            <a:fillRect/>
          </a:stretch>
        </p:blipFill>
        <p:spPr>
          <a:xfrm>
            <a:off x="7365333" y="1600893"/>
            <a:ext cx="3966282" cy="3656214"/>
          </a:xfrm>
          <a:prstGeom prst="rect">
            <a:avLst/>
          </a:prstGeom>
        </p:spPr>
      </p:pic>
    </p:spTree>
    <p:extLst>
      <p:ext uri="{BB962C8B-B14F-4D97-AF65-F5344CB8AC3E}">
        <p14:creationId xmlns:p14="http://schemas.microsoft.com/office/powerpoint/2010/main" val="2933750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58BF5A-9954-C990-1EE5-DB01BEC5D9D4}"/>
              </a:ext>
            </a:extLst>
          </p:cNvPr>
          <p:cNvSpPr txBox="1"/>
          <p:nvPr/>
        </p:nvSpPr>
        <p:spPr>
          <a:xfrm>
            <a:off x="383059" y="395416"/>
            <a:ext cx="11442357" cy="646331"/>
          </a:xfrm>
          <a:prstGeom prst="rect">
            <a:avLst/>
          </a:prstGeom>
          <a:noFill/>
        </p:spPr>
        <p:txBody>
          <a:bodyPr wrap="square" rtlCol="0">
            <a:spAutoFit/>
          </a:bodyPr>
          <a:lstStyle/>
          <a:p>
            <a:pPr algn="ctr"/>
            <a:r>
              <a:rPr lang="en-IN" sz="3600" dirty="0">
                <a:latin typeface="Algerian" panose="04020705040A02060702" pitchFamily="82" charset="0"/>
              </a:rPr>
              <a:t>Ridge Regression</a:t>
            </a:r>
          </a:p>
        </p:txBody>
      </p:sp>
      <p:sp>
        <p:nvSpPr>
          <p:cNvPr id="3" name="TextBox 2">
            <a:extLst>
              <a:ext uri="{FF2B5EF4-FFF2-40B4-BE49-F238E27FC236}">
                <a16:creationId xmlns:a16="http://schemas.microsoft.com/office/drawing/2014/main" id="{91B7FFCC-6BBC-A30B-0386-F8A5A5536886}"/>
              </a:ext>
            </a:extLst>
          </p:cNvPr>
          <p:cNvSpPr txBox="1"/>
          <p:nvPr/>
        </p:nvSpPr>
        <p:spPr>
          <a:xfrm>
            <a:off x="383059" y="1594022"/>
            <a:ext cx="11355860" cy="5632311"/>
          </a:xfrm>
          <a:prstGeom prst="rect">
            <a:avLst/>
          </a:prstGeom>
          <a:noFill/>
        </p:spPr>
        <p:txBody>
          <a:bodyPr wrap="square" rtlCol="0">
            <a:spAutoFit/>
          </a:bodyPr>
          <a:lstStyle/>
          <a:p>
            <a:r>
              <a:rPr lang="en-US" b="1" dirty="0"/>
              <a:t>Content</a:t>
            </a:r>
          </a:p>
          <a:p>
            <a:endParaRPr lang="en-US" b="1" dirty="0"/>
          </a:p>
          <a:p>
            <a:r>
              <a:rPr lang="en-US" dirty="0"/>
              <a:t>Ridge regression was used to reduce </a:t>
            </a:r>
          </a:p>
          <a:p>
            <a:r>
              <a:rPr lang="en-US" dirty="0"/>
              <a:t>overfitting and coefficient instability.</a:t>
            </a:r>
          </a:p>
          <a:p>
            <a:endParaRPr lang="en-US" dirty="0"/>
          </a:p>
          <a:p>
            <a:r>
              <a:rPr lang="en-US" b="1" dirty="0"/>
              <a:t>Steps Performed</a:t>
            </a:r>
          </a:p>
          <a:p>
            <a:endParaRPr lang="en-US" b="1" dirty="0"/>
          </a:p>
          <a:p>
            <a:pPr marL="285750" indent="-285750">
              <a:buFont typeface="Arial" panose="020B0604020202020204" pitchFamily="34" charset="0"/>
              <a:buChar char="•"/>
            </a:pPr>
            <a:r>
              <a:rPr lang="en-US" dirty="0"/>
              <a:t>Generated 100 lambda values</a:t>
            </a:r>
          </a:p>
          <a:p>
            <a:pPr marL="285750" indent="-285750">
              <a:buFont typeface="Arial" panose="020B0604020202020204" pitchFamily="34" charset="0"/>
              <a:buChar char="•"/>
            </a:pPr>
            <a:r>
              <a:rPr lang="en-US" dirty="0"/>
              <a:t>Calculated coefficient shrinkage</a:t>
            </a:r>
          </a:p>
          <a:p>
            <a:pPr marL="285750" indent="-285750">
              <a:buFont typeface="Arial" panose="020B0604020202020204" pitchFamily="34" charset="0"/>
              <a:buChar char="•"/>
            </a:pPr>
            <a:r>
              <a:rPr lang="en-US" dirty="0"/>
              <a:t>Measured L2 norm of coefficients</a:t>
            </a:r>
          </a:p>
          <a:p>
            <a:pPr marL="285750" indent="-285750">
              <a:buFont typeface="Arial" panose="020B0604020202020204" pitchFamily="34" charset="0"/>
              <a:buChar char="•"/>
            </a:pPr>
            <a:r>
              <a:rPr lang="en-US" dirty="0"/>
              <a:t>Used cross-validation to find the </a:t>
            </a:r>
          </a:p>
          <a:p>
            <a:r>
              <a:rPr lang="en-US" dirty="0"/>
              <a:t>     optimal lambda</a:t>
            </a:r>
          </a:p>
          <a:p>
            <a:endParaRPr lang="en-US" dirty="0"/>
          </a:p>
          <a:p>
            <a:r>
              <a:rPr lang="en-US" b="1" dirty="0"/>
              <a:t>Key Results</a:t>
            </a:r>
          </a:p>
          <a:p>
            <a:pPr marL="285750" indent="-285750">
              <a:buFont typeface="Arial" panose="020B0604020202020204" pitchFamily="34" charset="0"/>
              <a:buChar char="•"/>
            </a:pPr>
            <a:r>
              <a:rPr lang="en-US" dirty="0"/>
              <a:t>Optimal lambda value selected </a:t>
            </a:r>
          </a:p>
          <a:p>
            <a:r>
              <a:rPr lang="en-US" dirty="0"/>
              <a:t>     Automatically. </a:t>
            </a:r>
          </a:p>
          <a:p>
            <a:pPr marL="285750" indent="-285750">
              <a:buFont typeface="Arial" panose="020B0604020202020204" pitchFamily="34" charset="0"/>
              <a:buChar char="•"/>
            </a:pPr>
            <a:r>
              <a:rPr lang="en-US" dirty="0"/>
              <a:t>Final Ridge model test MSE</a:t>
            </a:r>
          </a:p>
          <a:p>
            <a:r>
              <a:rPr lang="en-US" dirty="0"/>
              <a:t>     calculated</a:t>
            </a:r>
          </a:p>
          <a:p>
            <a:endParaRPr lang="en-US" b="1" dirty="0"/>
          </a:p>
          <a:p>
            <a:endParaRPr lang="en-IN" dirty="0"/>
          </a:p>
        </p:txBody>
      </p:sp>
      <p:pic>
        <p:nvPicPr>
          <p:cNvPr id="5" name="Picture 4">
            <a:extLst>
              <a:ext uri="{FF2B5EF4-FFF2-40B4-BE49-F238E27FC236}">
                <a16:creationId xmlns:a16="http://schemas.microsoft.com/office/drawing/2014/main" id="{31505793-69F4-3465-0306-D894A14351C2}"/>
              </a:ext>
            </a:extLst>
          </p:cNvPr>
          <p:cNvPicPr>
            <a:picLocks noChangeAspect="1"/>
          </p:cNvPicPr>
          <p:nvPr/>
        </p:nvPicPr>
        <p:blipFill>
          <a:blip r:embed="rId2"/>
          <a:stretch>
            <a:fillRect/>
          </a:stretch>
        </p:blipFill>
        <p:spPr>
          <a:xfrm>
            <a:off x="4638159" y="1159966"/>
            <a:ext cx="7403370" cy="5460752"/>
          </a:xfrm>
          <a:prstGeom prst="rect">
            <a:avLst/>
          </a:prstGeom>
        </p:spPr>
      </p:pic>
    </p:spTree>
    <p:extLst>
      <p:ext uri="{BB962C8B-B14F-4D97-AF65-F5344CB8AC3E}">
        <p14:creationId xmlns:p14="http://schemas.microsoft.com/office/powerpoint/2010/main" val="3369729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0D7264-3150-1882-6AD5-73031A3031E2}"/>
              </a:ext>
            </a:extLst>
          </p:cNvPr>
          <p:cNvSpPr txBox="1"/>
          <p:nvPr/>
        </p:nvSpPr>
        <p:spPr>
          <a:xfrm>
            <a:off x="308919" y="271849"/>
            <a:ext cx="11541211" cy="646331"/>
          </a:xfrm>
          <a:prstGeom prst="rect">
            <a:avLst/>
          </a:prstGeom>
          <a:noFill/>
        </p:spPr>
        <p:txBody>
          <a:bodyPr wrap="square" rtlCol="0">
            <a:spAutoFit/>
          </a:bodyPr>
          <a:lstStyle/>
          <a:p>
            <a:pPr algn="ctr"/>
            <a:r>
              <a:rPr lang="en-IN" sz="3600" dirty="0">
                <a:latin typeface="Algerian" panose="04020705040A02060702" pitchFamily="82" charset="0"/>
              </a:rPr>
              <a:t>Elastic Net Regression</a:t>
            </a:r>
          </a:p>
        </p:txBody>
      </p:sp>
      <p:sp>
        <p:nvSpPr>
          <p:cNvPr id="3" name="TextBox 2">
            <a:extLst>
              <a:ext uri="{FF2B5EF4-FFF2-40B4-BE49-F238E27FC236}">
                <a16:creationId xmlns:a16="http://schemas.microsoft.com/office/drawing/2014/main" id="{2059B31B-5867-E794-E0D2-CE59D7880DDD}"/>
              </a:ext>
            </a:extLst>
          </p:cNvPr>
          <p:cNvSpPr txBox="1"/>
          <p:nvPr/>
        </p:nvSpPr>
        <p:spPr>
          <a:xfrm>
            <a:off x="457200" y="1519881"/>
            <a:ext cx="11232292" cy="4247317"/>
          </a:xfrm>
          <a:prstGeom prst="rect">
            <a:avLst/>
          </a:prstGeom>
          <a:noFill/>
        </p:spPr>
        <p:txBody>
          <a:bodyPr wrap="square" rtlCol="0">
            <a:spAutoFit/>
          </a:bodyPr>
          <a:lstStyle/>
          <a:p>
            <a:r>
              <a:rPr lang="en-IN" b="1" dirty="0"/>
              <a:t>Content</a:t>
            </a:r>
          </a:p>
          <a:p>
            <a:endParaRPr lang="en-IN" b="1" dirty="0"/>
          </a:p>
          <a:p>
            <a:r>
              <a:rPr lang="en-IN" dirty="0"/>
              <a:t>Elastic Net combines Ridge and LASSO </a:t>
            </a:r>
          </a:p>
          <a:p>
            <a:r>
              <a:rPr lang="en-IN" dirty="0"/>
              <a:t>penalties.</a:t>
            </a:r>
          </a:p>
          <a:p>
            <a:endParaRPr lang="en-IN" dirty="0"/>
          </a:p>
          <a:p>
            <a:r>
              <a:rPr lang="en-IN" b="1" dirty="0"/>
              <a:t>Advantages</a:t>
            </a:r>
          </a:p>
          <a:p>
            <a:endParaRPr lang="en-IN" b="1" dirty="0"/>
          </a:p>
          <a:p>
            <a:pPr marL="285750" indent="-285750">
              <a:buFont typeface="Arial" panose="020B0604020202020204" pitchFamily="34" charset="0"/>
              <a:buChar char="•"/>
            </a:pPr>
            <a:r>
              <a:rPr lang="en-IN" dirty="0"/>
              <a:t>Handles multicollinearity</a:t>
            </a:r>
          </a:p>
          <a:p>
            <a:pPr marL="285750" indent="-285750">
              <a:buFont typeface="Arial" panose="020B0604020202020204" pitchFamily="34" charset="0"/>
              <a:buChar char="•"/>
            </a:pPr>
            <a:r>
              <a:rPr lang="en-IN" dirty="0"/>
              <a:t>Performs variable selection</a:t>
            </a:r>
          </a:p>
          <a:p>
            <a:pPr marL="285750" indent="-285750">
              <a:buFont typeface="Arial" panose="020B0604020202020204" pitchFamily="34" charset="0"/>
              <a:buChar char="•"/>
            </a:pPr>
            <a:r>
              <a:rPr lang="en-IN" dirty="0"/>
              <a:t>Balances L1 and L2 penalties</a:t>
            </a:r>
          </a:p>
          <a:p>
            <a:endParaRPr lang="en-IN" dirty="0"/>
          </a:p>
          <a:p>
            <a:r>
              <a:rPr lang="en-IN" b="1" dirty="0"/>
              <a:t>Results</a:t>
            </a:r>
          </a:p>
          <a:p>
            <a:pPr marL="285750" indent="-285750">
              <a:buFont typeface="Arial" panose="020B0604020202020204" pitchFamily="34" charset="0"/>
              <a:buChar char="•"/>
            </a:pPr>
            <a:r>
              <a:rPr lang="en-IN" dirty="0"/>
              <a:t>Optimal alpha selected</a:t>
            </a:r>
          </a:p>
          <a:p>
            <a:pPr marL="285750" indent="-285750">
              <a:buFont typeface="Arial" panose="020B0604020202020204" pitchFamily="34" charset="0"/>
              <a:buChar char="•"/>
            </a:pPr>
            <a:r>
              <a:rPr lang="en-IN" dirty="0"/>
              <a:t>Optimal L1 ratio selected</a:t>
            </a:r>
          </a:p>
          <a:p>
            <a:pPr marL="285750" indent="-285750">
              <a:buFont typeface="Arial" panose="020B0604020202020204" pitchFamily="34" charset="0"/>
              <a:buChar char="•"/>
            </a:pPr>
            <a:r>
              <a:rPr lang="en-IN" dirty="0"/>
              <a:t>Final test MSE calculated</a:t>
            </a:r>
          </a:p>
        </p:txBody>
      </p:sp>
      <p:pic>
        <p:nvPicPr>
          <p:cNvPr id="5" name="Picture 4">
            <a:extLst>
              <a:ext uri="{FF2B5EF4-FFF2-40B4-BE49-F238E27FC236}">
                <a16:creationId xmlns:a16="http://schemas.microsoft.com/office/drawing/2014/main" id="{AC1C33E4-D79E-719C-F841-982ADEECA63D}"/>
              </a:ext>
            </a:extLst>
          </p:cNvPr>
          <p:cNvPicPr>
            <a:picLocks noChangeAspect="1"/>
          </p:cNvPicPr>
          <p:nvPr/>
        </p:nvPicPr>
        <p:blipFill>
          <a:blip r:embed="rId2"/>
          <a:stretch>
            <a:fillRect/>
          </a:stretch>
        </p:blipFill>
        <p:spPr>
          <a:xfrm>
            <a:off x="4927007" y="1938783"/>
            <a:ext cx="7045073" cy="3828415"/>
          </a:xfrm>
          <a:prstGeom prst="rect">
            <a:avLst/>
          </a:prstGeom>
        </p:spPr>
      </p:pic>
    </p:spTree>
    <p:extLst>
      <p:ext uri="{BB962C8B-B14F-4D97-AF65-F5344CB8AC3E}">
        <p14:creationId xmlns:p14="http://schemas.microsoft.com/office/powerpoint/2010/main" val="3096157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878121-C3A2-359D-90A2-E72BF4853B4B}"/>
              </a:ext>
            </a:extLst>
          </p:cNvPr>
          <p:cNvSpPr txBox="1"/>
          <p:nvPr/>
        </p:nvSpPr>
        <p:spPr>
          <a:xfrm>
            <a:off x="383059" y="321276"/>
            <a:ext cx="11504141" cy="646331"/>
          </a:xfrm>
          <a:prstGeom prst="rect">
            <a:avLst/>
          </a:prstGeom>
          <a:noFill/>
        </p:spPr>
        <p:txBody>
          <a:bodyPr wrap="square" rtlCol="0">
            <a:spAutoFit/>
          </a:bodyPr>
          <a:lstStyle/>
          <a:p>
            <a:pPr algn="ctr"/>
            <a:r>
              <a:rPr lang="en-IN" sz="3600" dirty="0">
                <a:latin typeface="Algerian" panose="04020705040A02060702" pitchFamily="82" charset="0"/>
              </a:rPr>
              <a:t>Interaction Effect Analysis</a:t>
            </a:r>
          </a:p>
        </p:txBody>
      </p:sp>
      <p:sp>
        <p:nvSpPr>
          <p:cNvPr id="4" name="TextBox 3">
            <a:extLst>
              <a:ext uri="{FF2B5EF4-FFF2-40B4-BE49-F238E27FC236}">
                <a16:creationId xmlns:a16="http://schemas.microsoft.com/office/drawing/2014/main" id="{D8E591F9-E06D-6C18-5697-7B72C9975F1D}"/>
              </a:ext>
            </a:extLst>
          </p:cNvPr>
          <p:cNvSpPr txBox="1"/>
          <p:nvPr/>
        </p:nvSpPr>
        <p:spPr>
          <a:xfrm>
            <a:off x="304800" y="1149022"/>
            <a:ext cx="11504141" cy="5909310"/>
          </a:xfrm>
          <a:prstGeom prst="rect">
            <a:avLst/>
          </a:prstGeom>
          <a:noFill/>
        </p:spPr>
        <p:txBody>
          <a:bodyPr wrap="square" rtlCol="0">
            <a:spAutoFit/>
          </a:bodyPr>
          <a:lstStyle/>
          <a:p>
            <a:r>
              <a:rPr lang="en-US" b="1" dirty="0"/>
              <a:t>Content</a:t>
            </a:r>
          </a:p>
          <a:p>
            <a:endParaRPr lang="en-US" b="1" dirty="0"/>
          </a:p>
          <a:p>
            <a:r>
              <a:rPr lang="en-US" dirty="0"/>
              <a:t>An interaction term was created:</a:t>
            </a:r>
          </a:p>
          <a:p>
            <a:pPr marL="285750" indent="-285750">
              <a:buFont typeface="Arial" panose="020B0604020202020204" pitchFamily="34" charset="0"/>
              <a:buChar char="•"/>
            </a:pPr>
            <a:r>
              <a:rPr lang="en-US" dirty="0" err="1"/>
              <a:t>experience_x_remote</a:t>
            </a:r>
            <a:r>
              <a:rPr lang="en-US" dirty="0"/>
              <a:t> = </a:t>
            </a:r>
            <a:r>
              <a:rPr lang="en-US" dirty="0" err="1"/>
              <a:t>years_experience</a:t>
            </a:r>
            <a:r>
              <a:rPr lang="en-US" dirty="0"/>
              <a:t> × </a:t>
            </a:r>
            <a:r>
              <a:rPr lang="en-US" dirty="0" err="1"/>
              <a:t>is_remote</a:t>
            </a:r>
            <a:endParaRPr lang="en-US" dirty="0"/>
          </a:p>
          <a:p>
            <a:endParaRPr lang="en-US" dirty="0"/>
          </a:p>
          <a:p>
            <a:r>
              <a:rPr lang="en-US" dirty="0"/>
              <a:t>Two models were compared:</a:t>
            </a:r>
          </a:p>
          <a:p>
            <a:pPr marL="285750" indent="-285750">
              <a:buFont typeface="Arial" panose="020B0604020202020204" pitchFamily="34" charset="0"/>
              <a:buChar char="•"/>
            </a:pPr>
            <a:r>
              <a:rPr lang="en-US" dirty="0"/>
              <a:t>Model without interaction term</a:t>
            </a:r>
          </a:p>
          <a:p>
            <a:pPr marL="285750" indent="-285750">
              <a:buFont typeface="Arial" panose="020B0604020202020204" pitchFamily="34" charset="0"/>
              <a:buChar char="•"/>
            </a:pPr>
            <a:r>
              <a:rPr lang="en-US" dirty="0"/>
              <a:t>Model with interaction term</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endParaRPr lang="en-US" dirty="0"/>
          </a:p>
          <a:p>
            <a:r>
              <a:rPr lang="en-US" b="1" dirty="0"/>
              <a:t>Purpose</a:t>
            </a:r>
          </a:p>
          <a:p>
            <a:r>
              <a:rPr lang="en-US" dirty="0"/>
              <a:t>To check whether the effect of experience on salary changes for remote jobs.</a:t>
            </a:r>
          </a:p>
          <a:p>
            <a:endParaRPr lang="en-IN" dirty="0"/>
          </a:p>
        </p:txBody>
      </p:sp>
      <p:pic>
        <p:nvPicPr>
          <p:cNvPr id="6" name="Picture 5">
            <a:extLst>
              <a:ext uri="{FF2B5EF4-FFF2-40B4-BE49-F238E27FC236}">
                <a16:creationId xmlns:a16="http://schemas.microsoft.com/office/drawing/2014/main" id="{86B0CA37-C31B-9CDC-E185-7125D95CE40F}"/>
              </a:ext>
            </a:extLst>
          </p:cNvPr>
          <p:cNvPicPr>
            <a:picLocks noChangeAspect="1"/>
          </p:cNvPicPr>
          <p:nvPr/>
        </p:nvPicPr>
        <p:blipFill>
          <a:blip r:embed="rId2"/>
          <a:stretch>
            <a:fillRect/>
          </a:stretch>
        </p:blipFill>
        <p:spPr>
          <a:xfrm>
            <a:off x="1100690" y="3429000"/>
            <a:ext cx="9193348" cy="2468885"/>
          </a:xfrm>
          <a:prstGeom prst="rect">
            <a:avLst/>
          </a:prstGeom>
        </p:spPr>
      </p:pic>
    </p:spTree>
    <p:extLst>
      <p:ext uri="{BB962C8B-B14F-4D97-AF65-F5344CB8AC3E}">
        <p14:creationId xmlns:p14="http://schemas.microsoft.com/office/powerpoint/2010/main" val="2702100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E0FFA7C-342B-2291-5793-CA71D63E8183}"/>
              </a:ext>
            </a:extLst>
          </p:cNvPr>
          <p:cNvSpPr txBox="1"/>
          <p:nvPr/>
        </p:nvSpPr>
        <p:spPr>
          <a:xfrm>
            <a:off x="308919" y="432486"/>
            <a:ext cx="11615351" cy="646331"/>
          </a:xfrm>
          <a:prstGeom prst="rect">
            <a:avLst/>
          </a:prstGeom>
          <a:noFill/>
        </p:spPr>
        <p:txBody>
          <a:bodyPr wrap="square" rtlCol="0">
            <a:spAutoFit/>
          </a:bodyPr>
          <a:lstStyle/>
          <a:p>
            <a:pPr algn="ctr"/>
            <a:r>
              <a:rPr lang="en-IN" sz="3600" dirty="0">
                <a:latin typeface="Algerian" panose="04020705040A02060702" pitchFamily="82" charset="0"/>
              </a:rPr>
              <a:t>Influential Observations</a:t>
            </a:r>
          </a:p>
        </p:txBody>
      </p:sp>
      <p:sp>
        <p:nvSpPr>
          <p:cNvPr id="3" name="TextBox 2">
            <a:extLst>
              <a:ext uri="{FF2B5EF4-FFF2-40B4-BE49-F238E27FC236}">
                <a16:creationId xmlns:a16="http://schemas.microsoft.com/office/drawing/2014/main" id="{82363300-9D00-315A-F6C3-E13E9DB27997}"/>
              </a:ext>
            </a:extLst>
          </p:cNvPr>
          <p:cNvSpPr txBox="1"/>
          <p:nvPr/>
        </p:nvSpPr>
        <p:spPr>
          <a:xfrm>
            <a:off x="617837" y="2007620"/>
            <a:ext cx="10997513" cy="3416320"/>
          </a:xfrm>
          <a:prstGeom prst="rect">
            <a:avLst/>
          </a:prstGeom>
          <a:noFill/>
        </p:spPr>
        <p:txBody>
          <a:bodyPr wrap="square" rtlCol="0">
            <a:spAutoFit/>
          </a:bodyPr>
          <a:lstStyle/>
          <a:p>
            <a:r>
              <a:rPr lang="en-US" dirty="0"/>
              <a:t>Cook’s Distance and Influential Points</a:t>
            </a:r>
          </a:p>
          <a:p>
            <a:endParaRPr lang="en-US" dirty="0"/>
          </a:p>
          <a:p>
            <a:r>
              <a:rPr lang="en-US" b="1" dirty="0"/>
              <a:t>Content</a:t>
            </a:r>
          </a:p>
          <a:p>
            <a:endParaRPr lang="en-US" b="1" dirty="0"/>
          </a:p>
          <a:p>
            <a:r>
              <a:rPr lang="en-US" dirty="0"/>
              <a:t>Cook’s Distance was used to identify influential job postings.</a:t>
            </a:r>
          </a:p>
          <a:p>
            <a:endParaRPr lang="en-US" dirty="0"/>
          </a:p>
          <a:p>
            <a:r>
              <a:rPr lang="en-US" b="1" dirty="0"/>
              <a:t>Key Points</a:t>
            </a:r>
          </a:p>
          <a:p>
            <a:endParaRPr lang="en-US" b="1" dirty="0"/>
          </a:p>
          <a:p>
            <a:pPr marL="285750" indent="-285750">
              <a:buFont typeface="Arial" panose="020B0604020202020204" pitchFamily="34" charset="0"/>
              <a:buChar char="•"/>
            </a:pPr>
            <a:r>
              <a:rPr lang="en-US" dirty="0"/>
              <a:t>Threshold used: 4 / n</a:t>
            </a:r>
          </a:p>
          <a:p>
            <a:pPr marL="285750" indent="-285750">
              <a:buFont typeface="Arial" panose="020B0604020202020204" pitchFamily="34" charset="0"/>
              <a:buChar char="•"/>
            </a:pPr>
            <a:r>
              <a:rPr lang="en-US" dirty="0"/>
              <a:t>Observations above the threshold were considered influential</a:t>
            </a:r>
          </a:p>
          <a:p>
            <a:pPr marL="285750" indent="-285750">
              <a:buFont typeface="Arial" panose="020B0604020202020204" pitchFamily="34" charset="0"/>
              <a:buChar char="•"/>
            </a:pPr>
            <a:r>
              <a:rPr lang="en-US" dirty="0"/>
              <a:t>Influential points may strongly affect regression results</a:t>
            </a:r>
          </a:p>
          <a:p>
            <a:endParaRPr lang="en-IN" dirty="0"/>
          </a:p>
        </p:txBody>
      </p:sp>
    </p:spTree>
    <p:extLst>
      <p:ext uri="{BB962C8B-B14F-4D97-AF65-F5344CB8AC3E}">
        <p14:creationId xmlns:p14="http://schemas.microsoft.com/office/powerpoint/2010/main" val="27954557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D0293F9-230F-73F9-E5C8-A64E5DF618D1}"/>
              </a:ext>
            </a:extLst>
          </p:cNvPr>
          <p:cNvPicPr>
            <a:picLocks noChangeAspect="1"/>
          </p:cNvPicPr>
          <p:nvPr/>
        </p:nvPicPr>
        <p:blipFill>
          <a:blip r:embed="rId2"/>
          <a:stretch>
            <a:fillRect/>
          </a:stretch>
        </p:blipFill>
        <p:spPr>
          <a:xfrm>
            <a:off x="1540757" y="162046"/>
            <a:ext cx="8876471" cy="6366076"/>
          </a:xfrm>
          <a:prstGeom prst="rect">
            <a:avLst/>
          </a:prstGeom>
        </p:spPr>
      </p:pic>
    </p:spTree>
    <p:extLst>
      <p:ext uri="{BB962C8B-B14F-4D97-AF65-F5344CB8AC3E}">
        <p14:creationId xmlns:p14="http://schemas.microsoft.com/office/powerpoint/2010/main" val="39223729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D1E09D3-AE9C-34F7-2D9D-BDF4214B549D}"/>
              </a:ext>
            </a:extLst>
          </p:cNvPr>
          <p:cNvSpPr txBox="1"/>
          <p:nvPr/>
        </p:nvSpPr>
        <p:spPr>
          <a:xfrm>
            <a:off x="345989" y="335197"/>
            <a:ext cx="11491784" cy="707886"/>
          </a:xfrm>
          <a:prstGeom prst="rect">
            <a:avLst/>
          </a:prstGeom>
          <a:noFill/>
        </p:spPr>
        <p:txBody>
          <a:bodyPr wrap="square" rtlCol="0">
            <a:spAutoFit/>
          </a:bodyPr>
          <a:lstStyle/>
          <a:p>
            <a:pPr algn="ctr"/>
            <a:r>
              <a:rPr lang="en-IN" sz="4000" dirty="0">
                <a:latin typeface="Algerian" panose="04020705040A02060702" pitchFamily="82" charset="0"/>
              </a:rPr>
              <a:t>Multinomial Logistic Regression</a:t>
            </a:r>
          </a:p>
        </p:txBody>
      </p:sp>
      <p:sp>
        <p:nvSpPr>
          <p:cNvPr id="3" name="TextBox 2">
            <a:extLst>
              <a:ext uri="{FF2B5EF4-FFF2-40B4-BE49-F238E27FC236}">
                <a16:creationId xmlns:a16="http://schemas.microsoft.com/office/drawing/2014/main" id="{9B3C88D2-5610-7A9A-ABBF-BAAB6A0573E6}"/>
              </a:ext>
            </a:extLst>
          </p:cNvPr>
          <p:cNvSpPr txBox="1"/>
          <p:nvPr/>
        </p:nvSpPr>
        <p:spPr>
          <a:xfrm>
            <a:off x="345989" y="1371600"/>
            <a:ext cx="11491784" cy="5355312"/>
          </a:xfrm>
          <a:prstGeom prst="rect">
            <a:avLst/>
          </a:prstGeom>
          <a:noFill/>
        </p:spPr>
        <p:txBody>
          <a:bodyPr wrap="square" rtlCol="0">
            <a:spAutoFit/>
          </a:bodyPr>
          <a:lstStyle/>
          <a:p>
            <a:r>
              <a:rPr lang="en-US" b="1" dirty="0"/>
              <a:t>Content</a:t>
            </a:r>
          </a:p>
          <a:p>
            <a:r>
              <a:rPr lang="en-US" dirty="0"/>
              <a:t>Multinomial logistic regression was used to predict experience level.</a:t>
            </a:r>
          </a:p>
          <a:p>
            <a:endParaRPr lang="en-US" dirty="0"/>
          </a:p>
          <a:p>
            <a:r>
              <a:rPr lang="en-US" b="1" dirty="0"/>
              <a:t>Predictors Used</a:t>
            </a:r>
          </a:p>
          <a:p>
            <a:endParaRPr lang="en-US" b="1" dirty="0"/>
          </a:p>
          <a:p>
            <a:pPr marL="285750" indent="-285750">
              <a:buFont typeface="Arial" panose="020B0604020202020204" pitchFamily="34" charset="0"/>
              <a:buChar char="•"/>
            </a:pPr>
            <a:r>
              <a:rPr lang="en-US" dirty="0"/>
              <a:t>Salary</a:t>
            </a:r>
          </a:p>
          <a:p>
            <a:pPr marL="285750" indent="-285750">
              <a:buFont typeface="Arial" panose="020B0604020202020204" pitchFamily="34" charset="0"/>
              <a:buChar char="•"/>
            </a:pPr>
            <a:r>
              <a:rPr lang="en-US" dirty="0"/>
              <a:t>Years of experience</a:t>
            </a:r>
          </a:p>
          <a:p>
            <a:pPr marL="285750" indent="-285750">
              <a:buFont typeface="Arial" panose="020B0604020202020204" pitchFamily="34" charset="0"/>
              <a:buChar char="•"/>
            </a:pPr>
            <a:r>
              <a:rPr lang="en-US" dirty="0"/>
              <a:t>Benefits score</a:t>
            </a:r>
          </a:p>
          <a:p>
            <a:endParaRPr lang="en-US" dirty="0"/>
          </a:p>
          <a:p>
            <a:r>
              <a:rPr lang="en-US" b="1" dirty="0"/>
              <a:t>Evaluation</a:t>
            </a:r>
          </a:p>
          <a:p>
            <a:endParaRPr lang="en-US" b="1" dirty="0"/>
          </a:p>
          <a:p>
            <a:pPr marL="285750" indent="-285750">
              <a:buFont typeface="Arial" panose="020B0604020202020204" pitchFamily="34" charset="0"/>
              <a:buChar char="•"/>
            </a:pPr>
            <a:r>
              <a:rPr lang="en-US" dirty="0"/>
              <a:t>Classification report</a:t>
            </a:r>
          </a:p>
          <a:p>
            <a:pPr marL="285750" indent="-285750">
              <a:buFont typeface="Arial" panose="020B0604020202020204" pitchFamily="34" charset="0"/>
              <a:buChar char="•"/>
            </a:pPr>
            <a:r>
              <a:rPr lang="en-US" dirty="0"/>
              <a:t>Precision</a:t>
            </a:r>
          </a:p>
          <a:p>
            <a:pPr marL="285750" indent="-285750">
              <a:buFont typeface="Arial" panose="020B0604020202020204" pitchFamily="34" charset="0"/>
              <a:buChar char="•"/>
            </a:pPr>
            <a:r>
              <a:rPr lang="en-US" dirty="0"/>
              <a:t>Recall</a:t>
            </a:r>
          </a:p>
          <a:p>
            <a:pPr marL="285750" indent="-285750">
              <a:buFont typeface="Arial" panose="020B0604020202020204" pitchFamily="34" charset="0"/>
              <a:buChar char="•"/>
            </a:pPr>
            <a:r>
              <a:rPr lang="en-US" dirty="0"/>
              <a:t>F1-score</a:t>
            </a:r>
          </a:p>
          <a:p>
            <a:endParaRPr lang="en-US" dirty="0"/>
          </a:p>
          <a:p>
            <a:r>
              <a:rPr lang="en-US" b="1" dirty="0"/>
              <a:t>Justification</a:t>
            </a:r>
          </a:p>
          <a:p>
            <a:r>
              <a:rPr lang="en-US" dirty="0"/>
              <a:t>This model is suitable when the target variable has more than two categories.</a:t>
            </a:r>
          </a:p>
          <a:p>
            <a:endParaRPr lang="en-IN" dirty="0"/>
          </a:p>
        </p:txBody>
      </p:sp>
      <p:pic>
        <p:nvPicPr>
          <p:cNvPr id="7" name="Picture 6">
            <a:extLst>
              <a:ext uri="{FF2B5EF4-FFF2-40B4-BE49-F238E27FC236}">
                <a16:creationId xmlns:a16="http://schemas.microsoft.com/office/drawing/2014/main" id="{6877815A-6340-9257-B586-AF49D311D3E0}"/>
              </a:ext>
            </a:extLst>
          </p:cNvPr>
          <p:cNvPicPr>
            <a:picLocks noChangeAspect="1"/>
          </p:cNvPicPr>
          <p:nvPr/>
        </p:nvPicPr>
        <p:blipFill>
          <a:blip r:embed="rId2"/>
          <a:stretch>
            <a:fillRect/>
          </a:stretch>
        </p:blipFill>
        <p:spPr>
          <a:xfrm>
            <a:off x="3366984" y="2222339"/>
            <a:ext cx="8376839" cy="3703899"/>
          </a:xfrm>
          <a:prstGeom prst="rect">
            <a:avLst/>
          </a:prstGeom>
        </p:spPr>
      </p:pic>
    </p:spTree>
    <p:extLst>
      <p:ext uri="{BB962C8B-B14F-4D97-AF65-F5344CB8AC3E}">
        <p14:creationId xmlns:p14="http://schemas.microsoft.com/office/powerpoint/2010/main" val="407596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2C21D90-9932-5873-A2AF-1A84AEC4A72D}"/>
              </a:ext>
            </a:extLst>
          </p:cNvPr>
          <p:cNvSpPr txBox="1"/>
          <p:nvPr/>
        </p:nvSpPr>
        <p:spPr>
          <a:xfrm>
            <a:off x="123568" y="358346"/>
            <a:ext cx="11887200" cy="646331"/>
          </a:xfrm>
          <a:prstGeom prst="rect">
            <a:avLst/>
          </a:prstGeom>
          <a:noFill/>
        </p:spPr>
        <p:txBody>
          <a:bodyPr wrap="square" rtlCol="0">
            <a:spAutoFit/>
          </a:bodyPr>
          <a:lstStyle/>
          <a:p>
            <a:pPr algn="ctr"/>
            <a:r>
              <a:rPr lang="en-IN" sz="3600" dirty="0">
                <a:latin typeface="Algerian" panose="04020705040A02060702" pitchFamily="82" charset="0"/>
              </a:rPr>
              <a:t>Simulation Study</a:t>
            </a:r>
          </a:p>
        </p:txBody>
      </p:sp>
      <p:sp>
        <p:nvSpPr>
          <p:cNvPr id="3" name="TextBox 2">
            <a:extLst>
              <a:ext uri="{FF2B5EF4-FFF2-40B4-BE49-F238E27FC236}">
                <a16:creationId xmlns:a16="http://schemas.microsoft.com/office/drawing/2014/main" id="{F3F45739-8C13-03FE-BC17-423ACC0D7D6B}"/>
              </a:ext>
            </a:extLst>
          </p:cNvPr>
          <p:cNvSpPr txBox="1"/>
          <p:nvPr/>
        </p:nvSpPr>
        <p:spPr>
          <a:xfrm>
            <a:off x="506627" y="1643449"/>
            <a:ext cx="11269362" cy="4801314"/>
          </a:xfrm>
          <a:prstGeom prst="rect">
            <a:avLst/>
          </a:prstGeom>
          <a:noFill/>
        </p:spPr>
        <p:txBody>
          <a:bodyPr wrap="square" rtlCol="0">
            <a:spAutoFit/>
          </a:bodyPr>
          <a:lstStyle/>
          <a:p>
            <a:r>
              <a:rPr lang="en-US" b="1" dirty="0"/>
              <a:t>Content</a:t>
            </a:r>
          </a:p>
          <a:p>
            <a:endParaRPr lang="en-US" b="1" dirty="0"/>
          </a:p>
          <a:p>
            <a:pPr marL="285750" indent="-285750">
              <a:buFont typeface="Arial" panose="020B0604020202020204" pitchFamily="34" charset="0"/>
              <a:buChar char="•"/>
            </a:pPr>
            <a:r>
              <a:rPr lang="en-US" dirty="0"/>
              <a:t>A simulation study was conducted with:</a:t>
            </a:r>
          </a:p>
          <a:p>
            <a:pPr marL="285750" indent="-285750">
              <a:buFont typeface="Arial" panose="020B0604020202020204" pitchFamily="34" charset="0"/>
              <a:buChar char="•"/>
            </a:pPr>
            <a:r>
              <a:rPr lang="en-US" dirty="0"/>
              <a:t>True intercept = 2</a:t>
            </a:r>
          </a:p>
          <a:p>
            <a:pPr marL="285750" indent="-285750">
              <a:buFont typeface="Arial" panose="020B0604020202020204" pitchFamily="34" charset="0"/>
              <a:buChar char="•"/>
            </a:pPr>
            <a:r>
              <a:rPr lang="en-US" dirty="0"/>
              <a:t>True slope = 3</a:t>
            </a:r>
          </a:p>
          <a:p>
            <a:pPr marL="285750" indent="-285750">
              <a:buFont typeface="Arial" panose="020B0604020202020204" pitchFamily="34" charset="0"/>
              <a:buChar char="•"/>
            </a:pPr>
            <a:r>
              <a:rPr lang="en-US" dirty="0"/>
              <a:t>1000 repetitions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b="1" dirty="0"/>
          </a:p>
          <a:p>
            <a:endParaRPr lang="en-US" dirty="0"/>
          </a:p>
          <a:p>
            <a:endParaRPr lang="en-US" dirty="0"/>
          </a:p>
          <a:p>
            <a:r>
              <a:rPr lang="en-US" b="1" dirty="0"/>
              <a:t>Result</a:t>
            </a:r>
          </a:p>
          <a:p>
            <a:pPr marL="285750" indent="-285750">
              <a:buFont typeface="Arial" panose="020B0604020202020204" pitchFamily="34" charset="0"/>
              <a:buChar char="•"/>
            </a:pPr>
            <a:r>
              <a:rPr lang="en-US" dirty="0"/>
              <a:t>The average estimated coefficients were very close to the true population values.</a:t>
            </a:r>
          </a:p>
          <a:p>
            <a:endParaRPr lang="en-US" dirty="0"/>
          </a:p>
          <a:p>
            <a:r>
              <a:rPr lang="en-US" b="1" dirty="0"/>
              <a:t>Conclusion</a:t>
            </a:r>
          </a:p>
          <a:p>
            <a:r>
              <a:rPr lang="en-US" dirty="0"/>
              <a:t>Least Squares Estimators are unbiased.</a:t>
            </a:r>
          </a:p>
          <a:p>
            <a:endParaRPr lang="en-IN" dirty="0"/>
          </a:p>
        </p:txBody>
      </p:sp>
      <p:pic>
        <p:nvPicPr>
          <p:cNvPr id="5" name="Picture 4">
            <a:extLst>
              <a:ext uri="{FF2B5EF4-FFF2-40B4-BE49-F238E27FC236}">
                <a16:creationId xmlns:a16="http://schemas.microsoft.com/office/drawing/2014/main" id="{B8BF5225-4EC3-6919-0E41-1C37E9A5BCC5}"/>
              </a:ext>
            </a:extLst>
          </p:cNvPr>
          <p:cNvPicPr>
            <a:picLocks noChangeAspect="1"/>
          </p:cNvPicPr>
          <p:nvPr/>
        </p:nvPicPr>
        <p:blipFill>
          <a:blip r:embed="rId2"/>
          <a:stretch>
            <a:fillRect/>
          </a:stretch>
        </p:blipFill>
        <p:spPr>
          <a:xfrm>
            <a:off x="506627" y="3429000"/>
            <a:ext cx="11362408" cy="969380"/>
          </a:xfrm>
          <a:prstGeom prst="rect">
            <a:avLst/>
          </a:prstGeom>
        </p:spPr>
      </p:pic>
    </p:spTree>
    <p:extLst>
      <p:ext uri="{BB962C8B-B14F-4D97-AF65-F5344CB8AC3E}">
        <p14:creationId xmlns:p14="http://schemas.microsoft.com/office/powerpoint/2010/main" val="257816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C8A10B-36FA-5E94-81FE-E9372617474E}"/>
              </a:ext>
            </a:extLst>
          </p:cNvPr>
          <p:cNvSpPr txBox="1"/>
          <p:nvPr/>
        </p:nvSpPr>
        <p:spPr>
          <a:xfrm>
            <a:off x="432486" y="370703"/>
            <a:ext cx="11392930" cy="646331"/>
          </a:xfrm>
          <a:prstGeom prst="rect">
            <a:avLst/>
          </a:prstGeom>
          <a:noFill/>
        </p:spPr>
        <p:txBody>
          <a:bodyPr wrap="square" rtlCol="0">
            <a:spAutoFit/>
          </a:bodyPr>
          <a:lstStyle/>
          <a:p>
            <a:pPr algn="ctr"/>
            <a:r>
              <a:rPr lang="en-IN" sz="3600" dirty="0">
                <a:latin typeface="Algerian" panose="04020705040A02060702" pitchFamily="82" charset="0"/>
              </a:rPr>
              <a:t>Overall Model Comparison</a:t>
            </a:r>
          </a:p>
        </p:txBody>
      </p:sp>
      <p:sp>
        <p:nvSpPr>
          <p:cNvPr id="3" name="TextBox 2">
            <a:extLst>
              <a:ext uri="{FF2B5EF4-FFF2-40B4-BE49-F238E27FC236}">
                <a16:creationId xmlns:a16="http://schemas.microsoft.com/office/drawing/2014/main" id="{7D1C060D-C3ED-19D2-6695-EF11876B7498}"/>
              </a:ext>
            </a:extLst>
          </p:cNvPr>
          <p:cNvSpPr txBox="1"/>
          <p:nvPr/>
        </p:nvSpPr>
        <p:spPr>
          <a:xfrm>
            <a:off x="432486" y="1680519"/>
            <a:ext cx="11479427" cy="4524315"/>
          </a:xfrm>
          <a:prstGeom prst="rect">
            <a:avLst/>
          </a:prstGeom>
          <a:noFill/>
        </p:spPr>
        <p:txBody>
          <a:bodyPr wrap="square" rtlCol="0">
            <a:spAutoFit/>
          </a:bodyPr>
          <a:lstStyle/>
          <a:p>
            <a:r>
              <a:rPr lang="en-IN" b="1" dirty="0"/>
              <a:t>Content</a:t>
            </a:r>
          </a:p>
          <a:p>
            <a:endParaRPr lang="en-IN" b="1" dirty="0"/>
          </a:p>
          <a:p>
            <a:pPr marL="285750" indent="-285750">
              <a:buFont typeface="Arial" panose="020B0604020202020204" pitchFamily="34" charset="0"/>
              <a:buChar char="•"/>
            </a:pPr>
            <a:r>
              <a:rPr lang="en-IN" dirty="0"/>
              <a:t>Regression Models Compared:</a:t>
            </a:r>
          </a:p>
          <a:p>
            <a:pPr marL="285750" indent="-285750">
              <a:buFont typeface="Arial" panose="020B0604020202020204" pitchFamily="34" charset="0"/>
              <a:buChar char="•"/>
            </a:pPr>
            <a:r>
              <a:rPr lang="en-IN" dirty="0"/>
              <a:t>Multiple Linear Regression</a:t>
            </a:r>
          </a:p>
          <a:p>
            <a:pPr marL="285750" indent="-285750">
              <a:buFont typeface="Arial" panose="020B0604020202020204" pitchFamily="34" charset="0"/>
              <a:buChar char="•"/>
            </a:pPr>
            <a:r>
              <a:rPr lang="en-IN" dirty="0"/>
              <a:t>KNN Regression</a:t>
            </a:r>
          </a:p>
          <a:p>
            <a:pPr marL="285750" indent="-285750">
              <a:buFont typeface="Arial" panose="020B0604020202020204" pitchFamily="34" charset="0"/>
              <a:buChar char="•"/>
            </a:pPr>
            <a:r>
              <a:rPr lang="en-IN" dirty="0"/>
              <a:t>LASSO Regression</a:t>
            </a:r>
          </a:p>
          <a:p>
            <a:pPr marL="285750" indent="-285750">
              <a:buFont typeface="Arial" panose="020B0604020202020204" pitchFamily="34" charset="0"/>
              <a:buChar char="•"/>
            </a:pPr>
            <a:r>
              <a:rPr lang="en-IN" dirty="0"/>
              <a:t>Ridge Regression</a:t>
            </a:r>
          </a:p>
          <a:p>
            <a:pPr marL="285750" indent="-285750">
              <a:buFont typeface="Arial" panose="020B0604020202020204" pitchFamily="34" charset="0"/>
              <a:buChar char="•"/>
            </a:pPr>
            <a:r>
              <a:rPr lang="en-IN" dirty="0"/>
              <a:t>Elastic Net Regression</a:t>
            </a:r>
          </a:p>
          <a:p>
            <a:pPr marL="285750" indent="-285750">
              <a:buFont typeface="Arial" panose="020B0604020202020204" pitchFamily="34" charset="0"/>
              <a:buChar char="•"/>
            </a:pPr>
            <a:endParaRPr lang="en-IN" dirty="0"/>
          </a:p>
          <a:p>
            <a:r>
              <a:rPr lang="en-IN" dirty="0"/>
              <a:t>Classification Models Compared:</a:t>
            </a:r>
          </a:p>
          <a:p>
            <a:endParaRPr lang="en-IN" dirty="0"/>
          </a:p>
          <a:p>
            <a:pPr marL="285750" indent="-285750">
              <a:buFont typeface="Arial" panose="020B0604020202020204" pitchFamily="34" charset="0"/>
              <a:buChar char="•"/>
            </a:pPr>
            <a:r>
              <a:rPr lang="en-IN" dirty="0"/>
              <a:t>Logistic Regression</a:t>
            </a:r>
          </a:p>
          <a:p>
            <a:pPr marL="285750" indent="-285750">
              <a:buFont typeface="Arial" panose="020B0604020202020204" pitchFamily="34" charset="0"/>
              <a:buChar char="•"/>
            </a:pPr>
            <a:r>
              <a:rPr lang="en-IN" dirty="0"/>
              <a:t>KNN Classification</a:t>
            </a:r>
          </a:p>
          <a:p>
            <a:pPr marL="285750" indent="-285750">
              <a:buFont typeface="Arial" panose="020B0604020202020204" pitchFamily="34" charset="0"/>
              <a:buChar char="•"/>
            </a:pPr>
            <a:r>
              <a:rPr lang="en-IN" dirty="0"/>
              <a:t>Naive Bayes</a:t>
            </a:r>
          </a:p>
          <a:p>
            <a:pPr marL="285750" indent="-285750">
              <a:buFont typeface="Arial" panose="020B0604020202020204" pitchFamily="34" charset="0"/>
              <a:buChar char="•"/>
            </a:pPr>
            <a:r>
              <a:rPr lang="en-IN" dirty="0"/>
              <a:t>Multinomial Logistic Regression</a:t>
            </a:r>
          </a:p>
          <a:p>
            <a:endParaRPr lang="en-IN" dirty="0"/>
          </a:p>
        </p:txBody>
      </p:sp>
    </p:spTree>
    <p:extLst>
      <p:ext uri="{BB962C8B-B14F-4D97-AF65-F5344CB8AC3E}">
        <p14:creationId xmlns:p14="http://schemas.microsoft.com/office/powerpoint/2010/main" val="40339107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C673B3-B356-B9A7-4A3B-6EB5A082970F}"/>
              </a:ext>
            </a:extLst>
          </p:cNvPr>
          <p:cNvSpPr txBox="1"/>
          <p:nvPr/>
        </p:nvSpPr>
        <p:spPr>
          <a:xfrm>
            <a:off x="407773" y="481914"/>
            <a:ext cx="11467070" cy="707886"/>
          </a:xfrm>
          <a:prstGeom prst="rect">
            <a:avLst/>
          </a:prstGeom>
          <a:noFill/>
        </p:spPr>
        <p:txBody>
          <a:bodyPr wrap="square" rtlCol="0">
            <a:spAutoFit/>
          </a:bodyPr>
          <a:lstStyle/>
          <a:p>
            <a:pPr algn="ctr"/>
            <a:r>
              <a:rPr lang="en-IN" sz="4000" dirty="0">
                <a:latin typeface="Algerian" panose="04020705040A02060702" pitchFamily="82" charset="0"/>
              </a:rPr>
              <a:t>Key Findings</a:t>
            </a:r>
          </a:p>
        </p:txBody>
      </p:sp>
      <p:sp>
        <p:nvSpPr>
          <p:cNvPr id="6" name="Rectangle 3">
            <a:extLst>
              <a:ext uri="{FF2B5EF4-FFF2-40B4-BE49-F238E27FC236}">
                <a16:creationId xmlns:a16="http://schemas.microsoft.com/office/drawing/2014/main" id="{297DCD61-A240-AF83-50A5-AEEF8EA208FF}"/>
              </a:ext>
            </a:extLst>
          </p:cNvPr>
          <p:cNvSpPr>
            <a:spLocks noChangeArrowheads="1"/>
          </p:cNvSpPr>
          <p:nvPr/>
        </p:nvSpPr>
        <p:spPr bwMode="auto">
          <a:xfrm>
            <a:off x="1248033" y="324982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Years of experience is one of the strongest predictors of salary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Benefits score positively influences salary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Remote jobs can be predicted reasonably well using classification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Ridge and Elastic Net improved model 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LASSO helped identify the most important variables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Some influential observations were detected using Cook’s Distance </a:t>
            </a:r>
          </a:p>
        </p:txBody>
      </p:sp>
    </p:spTree>
    <p:extLst>
      <p:ext uri="{BB962C8B-B14F-4D97-AF65-F5344CB8AC3E}">
        <p14:creationId xmlns:p14="http://schemas.microsoft.com/office/powerpoint/2010/main" val="2017209922"/>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320</TotalTime>
  <Words>1084</Words>
  <Application>Microsoft Office PowerPoint</Application>
  <PresentationFormat>Widescreen</PresentationFormat>
  <Paragraphs>308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Algerian</vt:lpstr>
      <vt:lpstr>Arial</vt:lpstr>
      <vt:lpstr>Century Gothic</vt:lpstr>
      <vt:lpstr>Wingdings 3</vt:lpstr>
      <vt:lpstr>Slice</vt:lpstr>
      <vt:lpstr>MDTS4214: Predictive Analysis </vt:lpstr>
      <vt:lpstr>PowerPoint Presentation</vt:lpstr>
      <vt:lpstr>Overview of dataSET</vt:lpstr>
      <vt:lpstr>Global AI Job Market &amp; Salary Trends 2025 A Comprehensive Analysis of Global Employment Trends in AI Synthetically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Saurabh mishra</dc:creator>
  <cp:lastModifiedBy>Saurabh mishra</cp:lastModifiedBy>
  <cp:revision>2</cp:revision>
  <dcterms:created xsi:type="dcterms:W3CDTF">2026-04-04T13:53:48Z</dcterms:created>
  <dcterms:modified xsi:type="dcterms:W3CDTF">2026-04-09T14:23:26Z</dcterms:modified>
</cp:coreProperties>
</file>